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ESP (Pa)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AHU-1</c:v>
                  </c:pt>
                  <c:pt idx="1">
                    <c:v>SF-GAL</c:v>
                  </c:pt>
                  <c:pt idx="2">
                    <c:v>EF-BAT</c:v>
                  </c:pt>
                  <c:pt idx="3">
                    <c:v>EF-CO2</c:v>
                  </c:pt>
                  <c:pt idx="4">
                    <c:v>EF-GAL</c:v>
                  </c:pt>
                  <c:pt idx="5">
                    <c:v>EF-HOS</c:v>
                  </c:pt>
                  <c:pt idx="6">
                    <c:v>EF-LAU</c:v>
                  </c:pt>
                  <c:pt idx="7">
                    <c:v>EF-PAN</c:v>
                  </c:pt>
                  <c:pt idx="8">
                    <c:v>EF-SAN</c:v>
                  </c:pt>
                  <c:pt idx="9">
                    <c:v>RA-1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459.8</c:v>
                </c:pt>
                <c:pt idx="1">
                  <c:v>130.3</c:v>
                </c:pt>
                <c:pt idx="2">
                  <c:v>46</c:v>
                </c:pt>
                <c:pt idx="3">
                  <c:v>11</c:v>
                </c:pt>
                <c:pt idx="4">
                  <c:v>120</c:v>
                </c:pt>
                <c:pt idx="5">
                  <c:v>58</c:v>
                </c:pt>
                <c:pt idx="6">
                  <c:v>65</c:v>
                </c:pt>
                <c:pt idx="7">
                  <c:v>191</c:v>
                </c:pt>
                <c:pt idx="8">
                  <c:v>83.1</c:v>
                </c:pt>
                <c:pt idx="9">
                  <c:v>280.5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팬 정압 추정 (Pa)</c:v>
                </c:pt>
              </c:strCache>
            </c:strRef>
          </c:tx>
          <c:spPr>
            <a:solidFill>
              <a:srgbClr val="A9B7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AHU-1</c:v>
                  </c:pt>
                  <c:pt idx="1">
                    <c:v>SF-GAL</c:v>
                  </c:pt>
                  <c:pt idx="2">
                    <c:v>EF-BAT</c:v>
                  </c:pt>
                  <c:pt idx="3">
                    <c:v>EF-CO2</c:v>
                  </c:pt>
                  <c:pt idx="4">
                    <c:v>EF-GAL</c:v>
                  </c:pt>
                  <c:pt idx="5">
                    <c:v>EF-HOS</c:v>
                  </c:pt>
                  <c:pt idx="6">
                    <c:v>EF-LAU</c:v>
                  </c:pt>
                  <c:pt idx="7">
                    <c:v>EF-PAN</c:v>
                  </c:pt>
                  <c:pt idx="8">
                    <c:v>EF-SAN</c:v>
                  </c:pt>
                  <c:pt idx="9">
                    <c:v>RA-1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1110</c:v>
                </c:pt>
                <c:pt idx="1">
                  <c:v>780</c:v>
                </c:pt>
                <c:pt idx="2">
                  <c:v>196</c:v>
                </c:pt>
                <c:pt idx="3">
                  <c:v>161</c:v>
                </c:pt>
                <c:pt idx="4">
                  <c:v>270</c:v>
                </c:pt>
                <c:pt idx="5">
                  <c:v>208</c:v>
                </c:pt>
                <c:pt idx="6">
                  <c:v>215</c:v>
                </c:pt>
                <c:pt idx="7">
                  <c:v>341</c:v>
                </c:pt>
                <c:pt idx="8">
                  <c:v>233</c:v>
                </c:pt>
                <c:pt idx="9">
                  <c:v>431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B5C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1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6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도면 3장(DXF)을 BOX로 열어 HVAC Grid를 처음부터 끝까지 돌린 결과입니다. 프로그램 이상은 실패한 단계·페이지 오류·Deck id 노출, 설계 확인 사항은 규칙이 시험선 배치와 입력에서 잡은 경고입니다.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계통 10개, 급기 합계 14280 CMH, 미완료 부하 0실.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도면 생성기(tools/make-test-ship3.cjs)가 그린 실 경계를 그대로 그렸습니다. 굵은 선이 Deck 외곽선(선체)입니다.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DXF 3장(1층 R12 한글)을 BOX로 열어 Deck 3개, 실 59개를 번호·이름까지 읽음. 빠진 실 0개.
도면: 벽은 LINE, 실 번호·이름은 TEXT. 선수 쪽 실은 선체선(외곽선)에 맞춰 잘려 있음.
Deck 목록에 이름·Z·높이를 입력하고, 외곽선 18변을 하부·상부 외곽선(OL)으로 지정.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격실 입력 표(BOX CAL)에 767칸을 붙여넣음(엑셀 붙여넣기와 같은 경로).
계통: SUP(급기)·EXH(배기)·RET(환기). 이것으로 Grid가 계통을 만듦.
온습도: 급기 있는 실 25 ℃/55 %, 급기 없는 실은 ISO 7547 표 1 차이.
인원·최소 신기·장비 발열·환기 횟수. ISO 구분은 비워 둠 → BOX가 실 이름으로 정함(ENGINE 3, ALLEY_SOUND 3, NON_AC 12, WHEELHOUSE 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모든 실 부하 계산 완료(미완료 0실). 이 값으로 설계 데이터 59실을 만듦.
- 계통 10개 · 급기 합계 14,280 CMH · 여러 Deck 계통: AHU-1, EF-SAN, RA-1.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풍량 규칙: 급기 ΔT 10 K, 가압 5 %, 최소 신기 25 %. 풍량 = 여름 냉방 현열 또는 최소 신기 중 큰 값.
계통 선택: 급기·배기·환기. 공조 구역 AHU-1 SA 11370 OA 3800 적합 / SF-GAL SA 2910 OA 2910 적합.
평면: 실마다 급기 풍량(CMH), 화장실로 가는 화살표는 전달 공기.
Deck 요약과 계통 카드. 난방으로 풍량을 정한 실 0개 — 겨울은 난방 용량으로.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"위치 지정"을 누르고 평면에서 실을 클릭.
의무실 배기(EF-HOS)는 그 Deck에 팬룸이 없어 린넨창고에 지정 — "assumed:corridor-end:202" → "user".
EF-HOS 팬 위치: 232 린넨창고 (CREW DK)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Deck·계통 16/16 완료, 164초. 공조기·팬에서 시작해 트렁크의 수직 덕트로 각 Deck에 연결.
계통 카드: 덕트 수·길이, Deck 최대 손실, 상태.
연결 안 된 RU 0 · 선체 밖 덕트 0 m · 금지 영역 완화 1계획.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검토 결과: 통과 10 · 확인 5 · 실패 1.
Deck·계통마다 RU·덕트·길이·최대 손실과 AUTO 상태.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계통별 팬 풍량, 덕트 외부 정압(ESP), 팬 정압과 Deck 사이 수직 덕트(크기·손실).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계통마다 공조기·팬 → 수직 덕트 → 각 Deck 덕트망. 도면 없이 계통 구성을 한눈에.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방화 경계 314개(등급별), 최하층 아래 = 기관실 A류.
실 분류: 미분류 0개, 확인 항목.
제한 구역 통과·SOLAS 점검표.
덕트 관통 121곳, 자동 방화댐퍼 12개(A급 경계 · 0.075 m² 초과, II-2/9.7.3).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실마다 SOLAS 범주, 벽·갑판 등급(A-60·A-0·B-0 …), 방화댐퍼(FD)·슬리브(SL) 위치. DXF로도 출력.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· 풍량 · check TRANSFER_OUTSIDE 308 청소도구실: 배기 150 CMH를 받을 급기 실이 이웃에 없음 — 외기 흡입구 또는 급기 필요
check · 풍량 · check TRANSFER_OUTSIDE 208 청소도구실: 배기 150 CMH를 받을 급기 실이 이웃에 없음 — 외기 흡입구 또는 급기 필요
check · 풍량 · check DOOR_GRILLE 230 의무실: 복도에서 전달 공기 530 CMH → 문 통기구 0.074 m² (&gt; 0.05 m², II-2/9.4.2) — 급기 추가 또는 덕트로 보충
check · 풍량 · check TRANSFER_OUTSIDE 108 청소도구실: 배기 150 CMH를 받을 급기 실이 이웃에 없음 — 외기 흡입구 또는 급기 필요
fail · 풍량 · fail NEG_PRESSURE 114 조리실: 급기 2910 &gt; 배기 2700 CMH — 부압 미확보 (배기 증가 또는 급기 제한)
check · 풍량 · check EXHAUST_ISO 115 배식실: 배기 550 CMH &lt; 병원(의무실)·배식실·흡연실 급기 × 1.2 600 CMH (ISO 7547 6.4.1) — 환기 횟수 확인
check · 풍량 · check ROOM_OA 240 취미실: 실 신기 140 CMH(급기 420 × 구역 신기 33.4 %) &lt; 최소 신기 173 CMH — 급기 530 CMH 이상 또는 AHU-1 신기 비율 42 % 이상
check · 풍량 · check ROOM_OA 121 선원식당: 실 신기 354 CMH(급기 1060 × 구역 신기 33.4 %) &lt; 최소 신기 749 CMH — 급기 2540 CMH 이상 또는 AHU-1 신기 비율 71 % 이상
check · 풍량 · check ROOM_OA 122 사관식당: 실 신기 297 CMH(급기 890 × 구역 신기 33.4 %) &lt; 최소 신기 605 CMH — 급기 1990 CMH 이상 또는 AHU-1 신기 비율 68 % 이상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N3 일일 시험 · 20261025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N3 일일 시험 보고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423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6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시드 20261025 · 20일 계획 3일째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971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6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 × 14 m · 3층 · 59실 · 테이퍼 선수 · 3층 3 m 짧음 · 중간에 꺾인 복도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023360"/>
            <a:ext cx="2377440" cy="1005840"/>
          </a:xfrm>
          <a:prstGeom prst="roundRect">
            <a:avLst>
              <a:gd name="adj" fmla="val 10909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0233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4251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이상 0건 · 설계 확인 사항 9건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2026-10-25 00:05 UTC · HVAC Grid → BOX CAL → PHG D, DXF 도면부터 출력까지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566160" cy="2057400"/>
          </a:xfrm>
          <a:prstGeom prst="roundRect">
            <a:avLst>
              <a:gd name="adj" fmla="val 444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8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51960" y="1280160"/>
            <a:ext cx="3566160" cy="2057400"/>
          </a:xfrm>
          <a:prstGeom prst="roundRect">
            <a:avLst>
              <a:gd name="adj" fmla="val 444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6280" y="1554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8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이상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46720" y="1280160"/>
            <a:ext cx="3566160" cy="2057400"/>
          </a:xfrm>
          <a:prstGeom prst="roundRect">
            <a:avLst>
              <a:gd name="adj" fmla="val 444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554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16/16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 완료 (Deck·계통)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3566160" cy="2057400"/>
          </a:xfrm>
          <a:prstGeom prst="roundRect">
            <a:avLst>
              <a:gd name="adj" fmla="val 444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8862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121 · 12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937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덕트 관통 · 방화댐퍼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51960" y="3611880"/>
            <a:ext cx="3566160" cy="2057400"/>
          </a:xfrm>
          <a:prstGeom prst="roundRect">
            <a:avLst>
              <a:gd name="adj" fmla="val 444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26280" y="38862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77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4937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확인 사항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46720" y="3611880"/>
            <a:ext cx="3566160" cy="2057400"/>
          </a:xfrm>
          <a:prstGeom prst="roundRect">
            <a:avLst>
              <a:gd name="adj" fmla="val 444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38862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188 s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4937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소요 시간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 × 14 m · 3층 · 59실 · 테이퍼 선수 · 3층 3 m 짧음 · 중간에 꺾인 복도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평면도 — 3개 Deck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DK · Z 0 mm</a:t>
            </a:r>
            <a:endParaRPr lang="en-US" sz="1200" dirty="0"/>
          </a:p>
        </p:txBody>
      </p:sp>
      <p:sp>
        <p:nvSpPr>
          <p:cNvPr id="4" name="D1 101"/>
          <p:cNvSpPr/>
          <p:nvPr/>
        </p:nvSpPr>
        <p:spPr>
          <a:xfrm>
            <a:off x="457200" y="2918129"/>
            <a:ext cx="542677" cy="852777"/>
          </a:xfrm>
          <a:custGeom>
            <a:avLst/>
            <a:gdLst/>
            <a:ahLst/>
            <a:cxnLst/>
            <a:rect l="l" t="t" r="r" b="b"/>
            <a:pathLst>
              <a:path w="542677" h="852777">
                <a:moveTo>
                  <a:pt x="0" y="852777"/>
                </a:moveTo>
                <a:lnTo>
                  <a:pt x="542677" y="852777"/>
                </a:lnTo>
                <a:lnTo>
                  <a:pt x="542677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5658" y="3271365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101</a:t>
            </a:r>
            <a:endParaRPr lang="en-US" sz="700" dirty="0"/>
          </a:p>
        </p:txBody>
      </p:sp>
      <p:sp>
        <p:nvSpPr>
          <p:cNvPr id="6" name="D1 102"/>
          <p:cNvSpPr/>
          <p:nvPr/>
        </p:nvSpPr>
        <p:spPr>
          <a:xfrm>
            <a:off x="457200" y="2608028"/>
            <a:ext cx="3566160" cy="387626"/>
          </a:xfrm>
          <a:custGeom>
            <a:avLst/>
            <a:gdLst/>
            <a:ahLst/>
            <a:cxnLst/>
            <a:rect l="l" t="t" r="r" b="b"/>
            <a:pathLst>
              <a:path w="3566160" h="387626">
                <a:moveTo>
                  <a:pt x="0" y="310101"/>
                </a:moveTo>
                <a:lnTo>
                  <a:pt x="1395454" y="310101"/>
                </a:lnTo>
                <a:lnTo>
                  <a:pt x="1395454" y="387626"/>
                </a:lnTo>
                <a:lnTo>
                  <a:pt x="3566160" y="387626"/>
                </a:lnTo>
                <a:lnTo>
                  <a:pt x="3566160" y="77525"/>
                </a:lnTo>
                <a:lnTo>
                  <a:pt x="1395454" y="77525"/>
                </a:lnTo>
                <a:lnTo>
                  <a:pt x="1395454" y="0"/>
                </a:lnTo>
                <a:lnTo>
                  <a:pt x="0" y="0"/>
                </a:lnTo>
                <a:close/>
              </a:path>
            </a:pathLst>
          </a:custGeom>
          <a:solidFill>
            <a:srgbClr val="CDEBEE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63587" y="2728689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102</a:t>
            </a:r>
            <a:endParaRPr lang="en-US" sz="700" dirty="0"/>
          </a:p>
        </p:txBody>
      </p:sp>
      <p:sp>
        <p:nvSpPr>
          <p:cNvPr id="8" name="D1 103"/>
          <p:cNvSpPr/>
          <p:nvPr/>
        </p:nvSpPr>
        <p:spPr>
          <a:xfrm>
            <a:off x="999877" y="2142877"/>
            <a:ext cx="387626" cy="465151"/>
          </a:xfrm>
          <a:custGeom>
            <a:avLst/>
            <a:gdLst/>
            <a:ahLst/>
            <a:cxnLst/>
            <a:rect l="l" t="t" r="r" b="b"/>
            <a:pathLst>
              <a:path w="387626" h="465151">
                <a:moveTo>
                  <a:pt x="0" y="465151"/>
                </a:moveTo>
                <a:lnTo>
                  <a:pt x="387626" y="465151"/>
                </a:lnTo>
                <a:lnTo>
                  <a:pt x="387626" y="0"/>
                </a:lnTo>
                <a:lnTo>
                  <a:pt x="0" y="0"/>
                </a:lnTo>
                <a:close/>
              </a:path>
            </a:pathLst>
          </a:custGeom>
          <a:solidFill>
            <a:srgbClr val="F4F7F9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10810" y="230230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103</a:t>
            </a:r>
            <a:endParaRPr lang="en-US" sz="700" dirty="0"/>
          </a:p>
        </p:txBody>
      </p:sp>
      <p:sp>
        <p:nvSpPr>
          <p:cNvPr id="10" name="D1 105"/>
          <p:cNvSpPr/>
          <p:nvPr/>
        </p:nvSpPr>
        <p:spPr>
          <a:xfrm>
            <a:off x="457200" y="2297927"/>
            <a:ext cx="232576" cy="310101"/>
          </a:xfrm>
          <a:custGeom>
            <a:avLst/>
            <a:gdLst/>
            <a:ahLst/>
            <a:cxnLst/>
            <a:rect l="l" t="t" r="r" b="b"/>
            <a:pathLst>
              <a:path w="232576" h="310101">
                <a:moveTo>
                  <a:pt x="0" y="310101"/>
                </a:moveTo>
                <a:lnTo>
                  <a:pt x="232576" y="310101"/>
                </a:lnTo>
                <a:lnTo>
                  <a:pt x="232576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11" name="D1 104"/>
          <p:cNvSpPr/>
          <p:nvPr/>
        </p:nvSpPr>
        <p:spPr>
          <a:xfrm>
            <a:off x="689776" y="2375452"/>
            <a:ext cx="310101" cy="232576"/>
          </a:xfrm>
          <a:custGeom>
            <a:avLst/>
            <a:gdLst/>
            <a:ahLst/>
            <a:cxnLst/>
            <a:rect l="l" t="t" r="r" b="b"/>
            <a:pathLst>
              <a:path w="310101" h="232576">
                <a:moveTo>
                  <a:pt x="0" y="232576"/>
                </a:moveTo>
                <a:lnTo>
                  <a:pt x="310101" y="232576"/>
                </a:lnTo>
                <a:lnTo>
                  <a:pt x="310101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1946" y="241858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104</a:t>
            </a:r>
            <a:endParaRPr lang="en-US" sz="700" dirty="0"/>
          </a:p>
        </p:txBody>
      </p:sp>
      <p:sp>
        <p:nvSpPr>
          <p:cNvPr id="13" name="D1 108"/>
          <p:cNvSpPr/>
          <p:nvPr/>
        </p:nvSpPr>
        <p:spPr>
          <a:xfrm>
            <a:off x="457200" y="1600200"/>
            <a:ext cx="232576" cy="697727"/>
          </a:xfrm>
          <a:custGeom>
            <a:avLst/>
            <a:gdLst/>
            <a:ahLst/>
            <a:cxnLst/>
            <a:rect l="l" t="t" r="r" b="b"/>
            <a:pathLst>
              <a:path w="232576" h="697727">
                <a:moveTo>
                  <a:pt x="0" y="697727"/>
                </a:moveTo>
                <a:lnTo>
                  <a:pt x="232576" y="697727"/>
                </a:lnTo>
                <a:lnTo>
                  <a:pt x="232576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14" name="D1 106"/>
          <p:cNvSpPr/>
          <p:nvPr/>
        </p:nvSpPr>
        <p:spPr>
          <a:xfrm>
            <a:off x="689776" y="1600200"/>
            <a:ext cx="310101" cy="775252"/>
          </a:xfrm>
          <a:custGeom>
            <a:avLst/>
            <a:gdLst/>
            <a:ahLst/>
            <a:cxnLst/>
            <a:rect l="l" t="t" r="r" b="b"/>
            <a:pathLst>
              <a:path w="310101" h="775252">
                <a:moveTo>
                  <a:pt x="0" y="775252"/>
                </a:moveTo>
                <a:lnTo>
                  <a:pt x="310101" y="775252"/>
                </a:lnTo>
                <a:lnTo>
                  <a:pt x="310101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1946" y="191467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106</a:t>
            </a:r>
            <a:endParaRPr lang="en-US" sz="700" dirty="0"/>
          </a:p>
        </p:txBody>
      </p:sp>
      <p:sp>
        <p:nvSpPr>
          <p:cNvPr id="16" name="D1 107"/>
          <p:cNvSpPr/>
          <p:nvPr/>
        </p:nvSpPr>
        <p:spPr>
          <a:xfrm>
            <a:off x="999877" y="1600200"/>
            <a:ext cx="387626" cy="542677"/>
          </a:xfrm>
          <a:custGeom>
            <a:avLst/>
            <a:gdLst/>
            <a:ahLst/>
            <a:cxnLst/>
            <a:rect l="l" t="t" r="r" b="b"/>
            <a:pathLst>
              <a:path w="387626" h="542677">
                <a:moveTo>
                  <a:pt x="0" y="542677"/>
                </a:moveTo>
                <a:lnTo>
                  <a:pt x="387626" y="542677"/>
                </a:lnTo>
                <a:lnTo>
                  <a:pt x="387626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10810" y="179838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107</a:t>
            </a:r>
            <a:endParaRPr lang="en-US" sz="700" dirty="0"/>
          </a:p>
        </p:txBody>
      </p:sp>
      <p:sp>
        <p:nvSpPr>
          <p:cNvPr id="18" name="D1 111"/>
          <p:cNvSpPr/>
          <p:nvPr/>
        </p:nvSpPr>
        <p:spPr>
          <a:xfrm>
            <a:off x="999877" y="3383280"/>
            <a:ext cx="387626" cy="387626"/>
          </a:xfrm>
          <a:custGeom>
            <a:avLst/>
            <a:gdLst/>
            <a:ahLst/>
            <a:cxnLst/>
            <a:rect l="l" t="t" r="r" b="b"/>
            <a:pathLst>
              <a:path w="387626" h="387626">
                <a:moveTo>
                  <a:pt x="0" y="387626"/>
                </a:moveTo>
                <a:lnTo>
                  <a:pt x="387626" y="387626"/>
                </a:lnTo>
                <a:lnTo>
                  <a:pt x="387626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10810" y="3503941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111</a:t>
            </a:r>
            <a:endParaRPr lang="en-US" sz="700" dirty="0"/>
          </a:p>
        </p:txBody>
      </p:sp>
      <p:sp>
        <p:nvSpPr>
          <p:cNvPr id="20" name="D1 112"/>
          <p:cNvSpPr/>
          <p:nvPr/>
        </p:nvSpPr>
        <p:spPr>
          <a:xfrm>
            <a:off x="999877" y="2918129"/>
            <a:ext cx="387626" cy="465151"/>
          </a:xfrm>
          <a:custGeom>
            <a:avLst/>
            <a:gdLst/>
            <a:ahLst/>
            <a:cxnLst/>
            <a:rect l="l" t="t" r="r" b="b"/>
            <a:pathLst>
              <a:path w="387626" h="465151">
                <a:moveTo>
                  <a:pt x="0" y="465151"/>
                </a:moveTo>
                <a:lnTo>
                  <a:pt x="387626" y="465151"/>
                </a:lnTo>
                <a:lnTo>
                  <a:pt x="387626" y="0"/>
                </a:lnTo>
                <a:lnTo>
                  <a:pt x="0" y="0"/>
                </a:lnTo>
                <a:close/>
              </a:path>
            </a:pathLst>
          </a:custGeom>
          <a:solidFill>
            <a:srgbClr val="F4F7F9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10810" y="307755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112</a:t>
            </a:r>
            <a:endParaRPr lang="en-US" sz="700" dirty="0"/>
          </a:p>
        </p:txBody>
      </p:sp>
      <p:sp>
        <p:nvSpPr>
          <p:cNvPr id="22" name="D1 113"/>
          <p:cNvSpPr/>
          <p:nvPr/>
        </p:nvSpPr>
        <p:spPr>
          <a:xfrm>
            <a:off x="1387503" y="2918129"/>
            <a:ext cx="465151" cy="852777"/>
          </a:xfrm>
          <a:custGeom>
            <a:avLst/>
            <a:gdLst/>
            <a:ahLst/>
            <a:cxnLst/>
            <a:rect l="l" t="t" r="r" b="b"/>
            <a:pathLst>
              <a:path w="465151" h="852777">
                <a:moveTo>
                  <a:pt x="0" y="852777"/>
                </a:moveTo>
                <a:lnTo>
                  <a:pt x="465151" y="852777"/>
                </a:lnTo>
                <a:lnTo>
                  <a:pt x="465151" y="0"/>
                </a:lnTo>
                <a:lnTo>
                  <a:pt x="0" y="0"/>
                </a:lnTo>
                <a:close/>
              </a:path>
            </a:pathLst>
          </a:custGeom>
          <a:solidFill>
            <a:srgbClr val="F4F7F9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437198" y="3271365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113</a:t>
            </a:r>
            <a:endParaRPr lang="en-US" sz="700" dirty="0"/>
          </a:p>
        </p:txBody>
      </p:sp>
      <p:sp>
        <p:nvSpPr>
          <p:cNvPr id="24" name="D1 124"/>
          <p:cNvSpPr/>
          <p:nvPr/>
        </p:nvSpPr>
        <p:spPr>
          <a:xfrm>
            <a:off x="1387503" y="1600200"/>
            <a:ext cx="465151" cy="1007828"/>
          </a:xfrm>
          <a:custGeom>
            <a:avLst/>
            <a:gdLst/>
            <a:ahLst/>
            <a:cxnLst/>
            <a:rect l="l" t="t" r="r" b="b"/>
            <a:pathLst>
              <a:path w="465151" h="1007828">
                <a:moveTo>
                  <a:pt x="0" y="1007828"/>
                </a:moveTo>
                <a:lnTo>
                  <a:pt x="465151" y="1007828"/>
                </a:lnTo>
                <a:lnTo>
                  <a:pt x="465151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437198" y="203096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124</a:t>
            </a:r>
            <a:endParaRPr lang="en-US" sz="700" dirty="0"/>
          </a:p>
        </p:txBody>
      </p:sp>
      <p:sp>
        <p:nvSpPr>
          <p:cNvPr id="26" name="D1 114"/>
          <p:cNvSpPr/>
          <p:nvPr/>
        </p:nvSpPr>
        <p:spPr>
          <a:xfrm>
            <a:off x="1852654" y="2995654"/>
            <a:ext cx="697727" cy="775252"/>
          </a:xfrm>
          <a:custGeom>
            <a:avLst/>
            <a:gdLst/>
            <a:ahLst/>
            <a:cxnLst/>
            <a:rect l="l" t="t" r="r" b="b"/>
            <a:pathLst>
              <a:path w="697727" h="775252">
                <a:moveTo>
                  <a:pt x="0" y="775252"/>
                </a:moveTo>
                <a:lnTo>
                  <a:pt x="697727" y="775252"/>
                </a:lnTo>
                <a:lnTo>
                  <a:pt x="697727" y="0"/>
                </a:lnTo>
                <a:lnTo>
                  <a:pt x="0" y="0"/>
                </a:lnTo>
                <a:close/>
              </a:path>
            </a:pathLst>
          </a:custGeom>
          <a:solidFill>
            <a:srgbClr val="F8D9B5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018637" y="331012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114</a:t>
            </a:r>
            <a:endParaRPr lang="en-US" sz="700" dirty="0"/>
          </a:p>
        </p:txBody>
      </p:sp>
      <p:sp>
        <p:nvSpPr>
          <p:cNvPr id="28" name="D1 115"/>
          <p:cNvSpPr/>
          <p:nvPr/>
        </p:nvSpPr>
        <p:spPr>
          <a:xfrm>
            <a:off x="2550381" y="2995654"/>
            <a:ext cx="310101" cy="775252"/>
          </a:xfrm>
          <a:custGeom>
            <a:avLst/>
            <a:gdLst/>
            <a:ahLst/>
            <a:cxnLst/>
            <a:rect l="l" t="t" r="r" b="b"/>
            <a:pathLst>
              <a:path w="310101" h="775252">
                <a:moveTo>
                  <a:pt x="0" y="775252"/>
                </a:moveTo>
                <a:lnTo>
                  <a:pt x="310101" y="775252"/>
                </a:lnTo>
                <a:lnTo>
                  <a:pt x="3101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4F7F9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522551" y="331012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115</a:t>
            </a:r>
            <a:endParaRPr lang="en-US" sz="700" dirty="0"/>
          </a:p>
        </p:txBody>
      </p:sp>
      <p:sp>
        <p:nvSpPr>
          <p:cNvPr id="30" name="D1 116"/>
          <p:cNvSpPr/>
          <p:nvPr/>
        </p:nvSpPr>
        <p:spPr>
          <a:xfrm>
            <a:off x="2860482" y="2995654"/>
            <a:ext cx="697727" cy="775252"/>
          </a:xfrm>
          <a:custGeom>
            <a:avLst/>
            <a:gdLst/>
            <a:ahLst/>
            <a:cxnLst/>
            <a:rect l="l" t="t" r="r" b="b"/>
            <a:pathLst>
              <a:path w="697727" h="775252">
                <a:moveTo>
                  <a:pt x="0" y="775252"/>
                </a:moveTo>
                <a:lnTo>
                  <a:pt x="77525" y="775252"/>
                </a:lnTo>
                <a:lnTo>
                  <a:pt x="697727" y="642352"/>
                </a:lnTo>
                <a:lnTo>
                  <a:pt x="697727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972198" y="3361073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116</a:t>
            </a:r>
            <a:endParaRPr lang="en-US" sz="700" dirty="0"/>
          </a:p>
        </p:txBody>
      </p:sp>
      <p:sp>
        <p:nvSpPr>
          <p:cNvPr id="32" name="D1 117"/>
          <p:cNvSpPr/>
          <p:nvPr/>
        </p:nvSpPr>
        <p:spPr>
          <a:xfrm>
            <a:off x="3558209" y="2995654"/>
            <a:ext cx="465151" cy="642352"/>
          </a:xfrm>
          <a:custGeom>
            <a:avLst/>
            <a:gdLst/>
            <a:ahLst/>
            <a:cxnLst/>
            <a:rect l="l" t="t" r="r" b="b"/>
            <a:pathLst>
              <a:path w="465151" h="642352">
                <a:moveTo>
                  <a:pt x="465151" y="542677"/>
                </a:moveTo>
                <a:lnTo>
                  <a:pt x="465151" y="0"/>
                </a:lnTo>
                <a:lnTo>
                  <a:pt x="0" y="0"/>
                </a:lnTo>
                <a:lnTo>
                  <a:pt x="0" y="642352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607904" y="3218759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117</a:t>
            </a:r>
            <a:endParaRPr lang="en-US" sz="700" dirty="0"/>
          </a:p>
        </p:txBody>
      </p:sp>
      <p:sp>
        <p:nvSpPr>
          <p:cNvPr id="34" name="D1 121"/>
          <p:cNvSpPr/>
          <p:nvPr/>
        </p:nvSpPr>
        <p:spPr>
          <a:xfrm>
            <a:off x="1852654" y="1600200"/>
            <a:ext cx="852777" cy="1085353"/>
          </a:xfrm>
          <a:custGeom>
            <a:avLst/>
            <a:gdLst/>
            <a:ahLst/>
            <a:cxnLst/>
            <a:rect l="l" t="t" r="r" b="b"/>
            <a:pathLst>
              <a:path w="852777" h="1085353">
                <a:moveTo>
                  <a:pt x="0" y="1085353"/>
                </a:moveTo>
                <a:lnTo>
                  <a:pt x="852777" y="1085353"/>
                </a:lnTo>
                <a:lnTo>
                  <a:pt x="852777" y="0"/>
                </a:lnTo>
                <a:lnTo>
                  <a:pt x="0" y="0"/>
                </a:lnTo>
                <a:close/>
              </a:path>
            </a:pathLst>
          </a:custGeom>
          <a:solidFill>
            <a:srgbClr val="F4F7F9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096163" y="2069725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121</a:t>
            </a:r>
            <a:endParaRPr lang="en-US" sz="700" dirty="0"/>
          </a:p>
        </p:txBody>
      </p:sp>
      <p:sp>
        <p:nvSpPr>
          <p:cNvPr id="36" name="D1 122"/>
          <p:cNvSpPr/>
          <p:nvPr/>
        </p:nvSpPr>
        <p:spPr>
          <a:xfrm>
            <a:off x="2705431" y="1600200"/>
            <a:ext cx="697727" cy="1085353"/>
          </a:xfrm>
          <a:custGeom>
            <a:avLst/>
            <a:gdLst/>
            <a:ahLst/>
            <a:cxnLst/>
            <a:rect l="l" t="t" r="r" b="b"/>
            <a:pathLst>
              <a:path w="697727" h="1085353">
                <a:moveTo>
                  <a:pt x="0" y="1085353"/>
                </a:moveTo>
                <a:lnTo>
                  <a:pt x="697727" y="1085353"/>
                </a:lnTo>
                <a:lnTo>
                  <a:pt x="697727" y="99675"/>
                </a:lnTo>
                <a:lnTo>
                  <a:pt x="232576" y="0"/>
                </a:lnTo>
                <a:lnTo>
                  <a:pt x="0" y="0"/>
                </a:lnTo>
                <a:close/>
              </a:path>
            </a:pathLst>
          </a:custGeom>
          <a:solidFill>
            <a:srgbClr val="F4F7F9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848157" y="198112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122</a:t>
            </a:r>
            <a:endParaRPr lang="en-US" sz="700" dirty="0"/>
          </a:p>
        </p:txBody>
      </p:sp>
      <p:sp>
        <p:nvSpPr>
          <p:cNvPr id="38" name="D1 123"/>
          <p:cNvSpPr/>
          <p:nvPr/>
        </p:nvSpPr>
        <p:spPr>
          <a:xfrm>
            <a:off x="3403158" y="1699875"/>
            <a:ext cx="620202" cy="985678"/>
          </a:xfrm>
          <a:custGeom>
            <a:avLst/>
            <a:gdLst/>
            <a:ahLst/>
            <a:cxnLst/>
            <a:rect l="l" t="t" r="r" b="b"/>
            <a:pathLst>
              <a:path w="620202" h="985678">
                <a:moveTo>
                  <a:pt x="0" y="985678"/>
                </a:moveTo>
                <a:lnTo>
                  <a:pt x="620202" y="985678"/>
                </a:lnTo>
                <a:lnTo>
                  <a:pt x="620202" y="132900"/>
                </a:lnTo>
                <a:lnTo>
                  <a:pt x="0" y="0"/>
                </a:lnTo>
                <a:close/>
              </a:path>
            </a:pathLst>
          </a:custGeom>
          <a:solidFill>
            <a:srgbClr val="F4F7F9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530379" y="2152787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123</a:t>
            </a:r>
            <a:endParaRPr lang="en-US" sz="700" dirty="0"/>
          </a:p>
        </p:txBody>
      </p:sp>
      <p:sp>
        <p:nvSpPr>
          <p:cNvPr id="40" name="D1 outline"/>
          <p:cNvSpPr/>
          <p:nvPr/>
        </p:nvSpPr>
        <p:spPr>
          <a:xfrm>
            <a:off x="457200" y="1600200"/>
            <a:ext cx="3566160" cy="2170706"/>
          </a:xfrm>
          <a:custGeom>
            <a:avLst/>
            <a:gdLst/>
            <a:ahLst/>
            <a:cxnLst/>
            <a:rect l="l" t="t" r="r" b="b"/>
            <a:pathLst>
              <a:path w="3566160" h="2170706">
                <a:moveTo>
                  <a:pt x="0" y="2170706"/>
                </a:moveTo>
                <a:lnTo>
                  <a:pt x="2480807" y="2170706"/>
                </a:lnTo>
                <a:lnTo>
                  <a:pt x="3566160" y="1938130"/>
                </a:lnTo>
                <a:lnTo>
                  <a:pt x="3566160" y="232576"/>
                </a:lnTo>
                <a:lnTo>
                  <a:pt x="2480807" y="0"/>
                </a:lnTo>
                <a:lnTo>
                  <a:pt x="0" y="0"/>
                </a:lnTo>
                <a:close/>
              </a:path>
            </a:pathLst>
          </a:custGeom>
          <a:ln w="22225">
            <a:solidFill>
              <a:srgbClr val="1B2A3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297680" y="1188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CREW DK · Z 2900 mm</a:t>
            </a:r>
            <a:endParaRPr lang="en-US" sz="1200" dirty="0"/>
          </a:p>
        </p:txBody>
      </p:sp>
      <p:sp>
        <p:nvSpPr>
          <p:cNvPr id="42" name="D2 201"/>
          <p:cNvSpPr/>
          <p:nvPr/>
        </p:nvSpPr>
        <p:spPr>
          <a:xfrm>
            <a:off x="4297680" y="2918129"/>
            <a:ext cx="542677" cy="852777"/>
          </a:xfrm>
          <a:custGeom>
            <a:avLst/>
            <a:gdLst/>
            <a:ahLst/>
            <a:cxnLst/>
            <a:rect l="l" t="t" r="r" b="b"/>
            <a:pathLst>
              <a:path w="542677" h="852777">
                <a:moveTo>
                  <a:pt x="0" y="852777"/>
                </a:moveTo>
                <a:lnTo>
                  <a:pt x="542677" y="852777"/>
                </a:lnTo>
                <a:lnTo>
                  <a:pt x="542677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386138" y="3271365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</a:t>
            </a:r>
            <a:endParaRPr lang="en-US" sz="700" dirty="0"/>
          </a:p>
        </p:txBody>
      </p:sp>
      <p:sp>
        <p:nvSpPr>
          <p:cNvPr id="44" name="D2 202"/>
          <p:cNvSpPr/>
          <p:nvPr/>
        </p:nvSpPr>
        <p:spPr>
          <a:xfrm>
            <a:off x="4297680" y="2608028"/>
            <a:ext cx="3566160" cy="387626"/>
          </a:xfrm>
          <a:custGeom>
            <a:avLst/>
            <a:gdLst/>
            <a:ahLst/>
            <a:cxnLst/>
            <a:rect l="l" t="t" r="r" b="b"/>
            <a:pathLst>
              <a:path w="3566160" h="387626">
                <a:moveTo>
                  <a:pt x="0" y="310101"/>
                </a:moveTo>
                <a:lnTo>
                  <a:pt x="1860605" y="310101"/>
                </a:lnTo>
                <a:lnTo>
                  <a:pt x="1860605" y="387626"/>
                </a:lnTo>
                <a:lnTo>
                  <a:pt x="3566160" y="387626"/>
                </a:lnTo>
                <a:lnTo>
                  <a:pt x="3566160" y="77525"/>
                </a:lnTo>
                <a:lnTo>
                  <a:pt x="1860605" y="77525"/>
                </a:lnTo>
                <a:lnTo>
                  <a:pt x="1860605" y="0"/>
                </a:lnTo>
                <a:lnTo>
                  <a:pt x="0" y="0"/>
                </a:lnTo>
                <a:close/>
              </a:path>
            </a:pathLst>
          </a:custGeom>
          <a:solidFill>
            <a:srgbClr val="CDEBEE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936643" y="2728689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</a:t>
            </a:r>
            <a:endParaRPr lang="en-US" sz="700" dirty="0"/>
          </a:p>
        </p:txBody>
      </p:sp>
      <p:sp>
        <p:nvSpPr>
          <p:cNvPr id="46" name="D2 203"/>
          <p:cNvSpPr/>
          <p:nvPr/>
        </p:nvSpPr>
        <p:spPr>
          <a:xfrm>
            <a:off x="4840357" y="2142877"/>
            <a:ext cx="387626" cy="465151"/>
          </a:xfrm>
          <a:custGeom>
            <a:avLst/>
            <a:gdLst/>
            <a:ahLst/>
            <a:cxnLst/>
            <a:rect l="l" t="t" r="r" b="b"/>
            <a:pathLst>
              <a:path w="387626" h="465151">
                <a:moveTo>
                  <a:pt x="0" y="465151"/>
                </a:moveTo>
                <a:lnTo>
                  <a:pt x="387626" y="465151"/>
                </a:lnTo>
                <a:lnTo>
                  <a:pt x="387626" y="0"/>
                </a:lnTo>
                <a:lnTo>
                  <a:pt x="0" y="0"/>
                </a:lnTo>
                <a:close/>
              </a:path>
            </a:pathLst>
          </a:custGeom>
          <a:solidFill>
            <a:srgbClr val="F4F7F9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851290" y="230230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203</a:t>
            </a:r>
            <a:endParaRPr lang="en-US" sz="700" dirty="0"/>
          </a:p>
        </p:txBody>
      </p:sp>
      <p:sp>
        <p:nvSpPr>
          <p:cNvPr id="48" name="D2 205"/>
          <p:cNvSpPr/>
          <p:nvPr/>
        </p:nvSpPr>
        <p:spPr>
          <a:xfrm>
            <a:off x="4297680" y="2297927"/>
            <a:ext cx="232576" cy="310101"/>
          </a:xfrm>
          <a:custGeom>
            <a:avLst/>
            <a:gdLst/>
            <a:ahLst/>
            <a:cxnLst/>
            <a:rect l="l" t="t" r="r" b="b"/>
            <a:pathLst>
              <a:path w="232576" h="310101">
                <a:moveTo>
                  <a:pt x="0" y="310101"/>
                </a:moveTo>
                <a:lnTo>
                  <a:pt x="232576" y="310101"/>
                </a:lnTo>
                <a:lnTo>
                  <a:pt x="232576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49" name="D2 204"/>
          <p:cNvSpPr/>
          <p:nvPr/>
        </p:nvSpPr>
        <p:spPr>
          <a:xfrm>
            <a:off x="4530256" y="2375452"/>
            <a:ext cx="310101" cy="232576"/>
          </a:xfrm>
          <a:custGeom>
            <a:avLst/>
            <a:gdLst/>
            <a:ahLst/>
            <a:cxnLst/>
            <a:rect l="l" t="t" r="r" b="b"/>
            <a:pathLst>
              <a:path w="310101" h="232576">
                <a:moveTo>
                  <a:pt x="0" y="232576"/>
                </a:moveTo>
                <a:lnTo>
                  <a:pt x="310101" y="232576"/>
                </a:lnTo>
                <a:lnTo>
                  <a:pt x="310101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502426" y="241858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204</a:t>
            </a:r>
            <a:endParaRPr lang="en-US" sz="700" dirty="0"/>
          </a:p>
        </p:txBody>
      </p:sp>
      <p:sp>
        <p:nvSpPr>
          <p:cNvPr id="51" name="D2 208"/>
          <p:cNvSpPr/>
          <p:nvPr/>
        </p:nvSpPr>
        <p:spPr>
          <a:xfrm>
            <a:off x="4297680" y="1600200"/>
            <a:ext cx="232576" cy="697727"/>
          </a:xfrm>
          <a:custGeom>
            <a:avLst/>
            <a:gdLst/>
            <a:ahLst/>
            <a:cxnLst/>
            <a:rect l="l" t="t" r="r" b="b"/>
            <a:pathLst>
              <a:path w="232576" h="697727">
                <a:moveTo>
                  <a:pt x="0" y="697727"/>
                </a:moveTo>
                <a:lnTo>
                  <a:pt x="232576" y="697727"/>
                </a:lnTo>
                <a:lnTo>
                  <a:pt x="232576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52" name="D2 206"/>
          <p:cNvSpPr/>
          <p:nvPr/>
        </p:nvSpPr>
        <p:spPr>
          <a:xfrm>
            <a:off x="4530256" y="1600200"/>
            <a:ext cx="310101" cy="775252"/>
          </a:xfrm>
          <a:custGeom>
            <a:avLst/>
            <a:gdLst/>
            <a:ahLst/>
            <a:cxnLst/>
            <a:rect l="l" t="t" r="r" b="b"/>
            <a:pathLst>
              <a:path w="310101" h="775252">
                <a:moveTo>
                  <a:pt x="0" y="775252"/>
                </a:moveTo>
                <a:lnTo>
                  <a:pt x="310101" y="775252"/>
                </a:lnTo>
                <a:lnTo>
                  <a:pt x="310101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502426" y="191467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206</a:t>
            </a:r>
            <a:endParaRPr lang="en-US" sz="700" dirty="0"/>
          </a:p>
        </p:txBody>
      </p:sp>
      <p:sp>
        <p:nvSpPr>
          <p:cNvPr id="54" name="D2 207"/>
          <p:cNvSpPr/>
          <p:nvPr/>
        </p:nvSpPr>
        <p:spPr>
          <a:xfrm>
            <a:off x="4840357" y="1600200"/>
            <a:ext cx="387626" cy="542677"/>
          </a:xfrm>
          <a:custGeom>
            <a:avLst/>
            <a:gdLst/>
            <a:ahLst/>
            <a:cxnLst/>
            <a:rect l="l" t="t" r="r" b="b"/>
            <a:pathLst>
              <a:path w="387626" h="542677">
                <a:moveTo>
                  <a:pt x="0" y="542677"/>
                </a:moveTo>
                <a:lnTo>
                  <a:pt x="387626" y="542677"/>
                </a:lnTo>
                <a:lnTo>
                  <a:pt x="387626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4851290" y="179838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207</a:t>
            </a:r>
            <a:endParaRPr lang="en-US" sz="700" dirty="0"/>
          </a:p>
        </p:txBody>
      </p:sp>
      <p:sp>
        <p:nvSpPr>
          <p:cNvPr id="56" name="D2 210"/>
          <p:cNvSpPr/>
          <p:nvPr/>
        </p:nvSpPr>
        <p:spPr>
          <a:xfrm>
            <a:off x="4840357" y="2918129"/>
            <a:ext cx="542677" cy="852777"/>
          </a:xfrm>
          <a:custGeom>
            <a:avLst/>
            <a:gdLst/>
            <a:ahLst/>
            <a:cxnLst/>
            <a:rect l="l" t="t" r="r" b="b"/>
            <a:pathLst>
              <a:path w="542677" h="852777">
                <a:moveTo>
                  <a:pt x="0" y="852777"/>
                </a:moveTo>
                <a:lnTo>
                  <a:pt x="542677" y="852777"/>
                </a:lnTo>
                <a:lnTo>
                  <a:pt x="542677" y="0"/>
                </a:lnTo>
                <a:lnTo>
                  <a:pt x="0" y="0"/>
                </a:lnTo>
                <a:close/>
              </a:path>
            </a:pathLst>
          </a:custGeom>
          <a:solidFill>
            <a:srgbClr val="F4F7F9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928815" y="3271365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210</a:t>
            </a:r>
            <a:endParaRPr lang="en-US" sz="700" dirty="0"/>
          </a:p>
        </p:txBody>
      </p:sp>
      <p:sp>
        <p:nvSpPr>
          <p:cNvPr id="58" name="D2 230"/>
          <p:cNvSpPr/>
          <p:nvPr/>
        </p:nvSpPr>
        <p:spPr>
          <a:xfrm>
            <a:off x="5227983" y="1600200"/>
            <a:ext cx="697727" cy="1007828"/>
          </a:xfrm>
          <a:custGeom>
            <a:avLst/>
            <a:gdLst/>
            <a:ahLst/>
            <a:cxnLst/>
            <a:rect l="l" t="t" r="r" b="b"/>
            <a:pathLst>
              <a:path w="697727" h="1007828">
                <a:moveTo>
                  <a:pt x="0" y="1007828"/>
                </a:moveTo>
                <a:lnTo>
                  <a:pt x="697727" y="1007828"/>
                </a:lnTo>
                <a:lnTo>
                  <a:pt x="697727" y="0"/>
                </a:lnTo>
                <a:lnTo>
                  <a:pt x="0" y="0"/>
                </a:lnTo>
                <a:close/>
              </a:path>
            </a:pathLst>
          </a:custGeom>
          <a:solidFill>
            <a:srgbClr val="F4F7F9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5393966" y="203096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230</a:t>
            </a:r>
            <a:endParaRPr lang="en-US" sz="700" dirty="0"/>
          </a:p>
        </p:txBody>
      </p:sp>
      <p:sp>
        <p:nvSpPr>
          <p:cNvPr id="60" name="D2 231"/>
          <p:cNvSpPr/>
          <p:nvPr/>
        </p:nvSpPr>
        <p:spPr>
          <a:xfrm>
            <a:off x="5925710" y="2297927"/>
            <a:ext cx="232576" cy="310101"/>
          </a:xfrm>
          <a:custGeom>
            <a:avLst/>
            <a:gdLst/>
            <a:ahLst/>
            <a:cxnLst/>
            <a:rect l="l" t="t" r="r" b="b"/>
            <a:pathLst>
              <a:path w="232576" h="310101">
                <a:moveTo>
                  <a:pt x="0" y="310101"/>
                </a:moveTo>
                <a:lnTo>
                  <a:pt x="232576" y="310101"/>
                </a:lnTo>
                <a:lnTo>
                  <a:pt x="232576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61" name="D2 232"/>
          <p:cNvSpPr/>
          <p:nvPr/>
        </p:nvSpPr>
        <p:spPr>
          <a:xfrm>
            <a:off x="5925710" y="1600200"/>
            <a:ext cx="232576" cy="697727"/>
          </a:xfrm>
          <a:custGeom>
            <a:avLst/>
            <a:gdLst/>
            <a:ahLst/>
            <a:cxnLst/>
            <a:rect l="l" t="t" r="r" b="b"/>
            <a:pathLst>
              <a:path w="232576" h="697727">
                <a:moveTo>
                  <a:pt x="0" y="697727"/>
                </a:moveTo>
                <a:lnTo>
                  <a:pt x="232576" y="697727"/>
                </a:lnTo>
                <a:lnTo>
                  <a:pt x="232576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62" name="D2 240"/>
          <p:cNvSpPr/>
          <p:nvPr/>
        </p:nvSpPr>
        <p:spPr>
          <a:xfrm>
            <a:off x="5383033" y="2918129"/>
            <a:ext cx="775252" cy="852777"/>
          </a:xfrm>
          <a:custGeom>
            <a:avLst/>
            <a:gdLst/>
            <a:ahLst/>
            <a:cxnLst/>
            <a:rect l="l" t="t" r="r" b="b"/>
            <a:pathLst>
              <a:path w="775252" h="852777">
                <a:moveTo>
                  <a:pt x="0" y="852777"/>
                </a:moveTo>
                <a:lnTo>
                  <a:pt x="775252" y="852777"/>
                </a:lnTo>
                <a:lnTo>
                  <a:pt x="775252" y="0"/>
                </a:lnTo>
                <a:lnTo>
                  <a:pt x="0" y="0"/>
                </a:lnTo>
                <a:close/>
              </a:path>
            </a:pathLst>
          </a:custGeom>
          <a:solidFill>
            <a:srgbClr val="F4F7F9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5587779" y="3271365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240</a:t>
            </a:r>
            <a:endParaRPr lang="en-US" sz="700" dirty="0"/>
          </a:p>
        </p:txBody>
      </p:sp>
      <p:sp>
        <p:nvSpPr>
          <p:cNvPr id="64" name="D2 211"/>
          <p:cNvSpPr/>
          <p:nvPr/>
        </p:nvSpPr>
        <p:spPr>
          <a:xfrm>
            <a:off x="6158285" y="2995654"/>
            <a:ext cx="542677" cy="775252"/>
          </a:xfrm>
          <a:custGeom>
            <a:avLst/>
            <a:gdLst/>
            <a:ahLst/>
            <a:cxnLst/>
            <a:rect l="l" t="t" r="r" b="b"/>
            <a:pathLst>
              <a:path w="542677" h="775252">
                <a:moveTo>
                  <a:pt x="0" y="775252"/>
                </a:moveTo>
                <a:lnTo>
                  <a:pt x="542677" y="775252"/>
                </a:lnTo>
                <a:lnTo>
                  <a:pt x="542677" y="0"/>
                </a:lnTo>
                <a:lnTo>
                  <a:pt x="232576" y="0"/>
                </a:lnTo>
                <a:lnTo>
                  <a:pt x="232576" y="279091"/>
                </a:lnTo>
                <a:lnTo>
                  <a:pt x="0" y="279091"/>
                </a:lnTo>
                <a:close/>
              </a:path>
            </a:pathLst>
          </a:custGeom>
          <a:solidFill>
            <a:srgbClr val="F4F7F9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233823" y="327395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211</a:t>
            </a:r>
            <a:endParaRPr lang="en-US" sz="700" dirty="0"/>
          </a:p>
        </p:txBody>
      </p:sp>
      <p:sp>
        <p:nvSpPr>
          <p:cNvPr id="66" name="D2 261"/>
          <p:cNvSpPr/>
          <p:nvPr/>
        </p:nvSpPr>
        <p:spPr>
          <a:xfrm>
            <a:off x="6158285" y="2995654"/>
            <a:ext cx="232576" cy="279091"/>
          </a:xfrm>
          <a:custGeom>
            <a:avLst/>
            <a:gdLst/>
            <a:ahLst/>
            <a:cxnLst/>
            <a:rect l="l" t="t" r="r" b="b"/>
            <a:pathLst>
              <a:path w="232576" h="279091">
                <a:moveTo>
                  <a:pt x="0" y="279091"/>
                </a:moveTo>
                <a:lnTo>
                  <a:pt x="232576" y="279091"/>
                </a:lnTo>
                <a:lnTo>
                  <a:pt x="232576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67" name="D2 212"/>
          <p:cNvSpPr/>
          <p:nvPr/>
        </p:nvSpPr>
        <p:spPr>
          <a:xfrm>
            <a:off x="6700962" y="2995654"/>
            <a:ext cx="542677" cy="775252"/>
          </a:xfrm>
          <a:custGeom>
            <a:avLst/>
            <a:gdLst/>
            <a:ahLst/>
            <a:cxnLst/>
            <a:rect l="l" t="t" r="r" b="b"/>
            <a:pathLst>
              <a:path w="542677" h="775252">
                <a:moveTo>
                  <a:pt x="0" y="775252"/>
                </a:moveTo>
                <a:lnTo>
                  <a:pt x="77525" y="775252"/>
                </a:lnTo>
                <a:lnTo>
                  <a:pt x="542677" y="675577"/>
                </a:lnTo>
                <a:lnTo>
                  <a:pt x="542677" y="0"/>
                </a:lnTo>
                <a:lnTo>
                  <a:pt x="232576" y="0"/>
                </a:lnTo>
                <a:lnTo>
                  <a:pt x="232576" y="279091"/>
                </a:lnTo>
                <a:lnTo>
                  <a:pt x="0" y="279091"/>
                </a:lnTo>
                <a:close/>
              </a:path>
            </a:pathLst>
          </a:custGeom>
          <a:solidFill>
            <a:srgbClr val="F4F7F9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6750657" y="332025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212</a:t>
            </a:r>
            <a:endParaRPr lang="en-US" sz="700" dirty="0"/>
          </a:p>
        </p:txBody>
      </p:sp>
      <p:sp>
        <p:nvSpPr>
          <p:cNvPr id="69" name="D2 262"/>
          <p:cNvSpPr/>
          <p:nvPr/>
        </p:nvSpPr>
        <p:spPr>
          <a:xfrm>
            <a:off x="6700962" y="2995654"/>
            <a:ext cx="232576" cy="279091"/>
          </a:xfrm>
          <a:custGeom>
            <a:avLst/>
            <a:gdLst/>
            <a:ahLst/>
            <a:cxnLst/>
            <a:rect l="l" t="t" r="r" b="b"/>
            <a:pathLst>
              <a:path w="232576" h="279091">
                <a:moveTo>
                  <a:pt x="0" y="279091"/>
                </a:moveTo>
                <a:lnTo>
                  <a:pt x="232576" y="279091"/>
                </a:lnTo>
                <a:lnTo>
                  <a:pt x="232576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70" name="D2 213"/>
          <p:cNvSpPr/>
          <p:nvPr/>
        </p:nvSpPr>
        <p:spPr>
          <a:xfrm>
            <a:off x="7243638" y="2995654"/>
            <a:ext cx="620202" cy="675577"/>
          </a:xfrm>
          <a:custGeom>
            <a:avLst/>
            <a:gdLst/>
            <a:ahLst/>
            <a:cxnLst/>
            <a:rect l="l" t="t" r="r" b="b"/>
            <a:pathLst>
              <a:path w="620202" h="675577">
                <a:moveTo>
                  <a:pt x="620202" y="542677"/>
                </a:moveTo>
                <a:lnTo>
                  <a:pt x="620202" y="0"/>
                </a:lnTo>
                <a:lnTo>
                  <a:pt x="232576" y="0"/>
                </a:lnTo>
                <a:lnTo>
                  <a:pt x="232576" y="279091"/>
                </a:lnTo>
                <a:lnTo>
                  <a:pt x="0" y="279091"/>
                </a:lnTo>
                <a:lnTo>
                  <a:pt x="0" y="675577"/>
                </a:lnTo>
                <a:close/>
              </a:path>
            </a:pathLst>
          </a:custGeom>
          <a:solidFill>
            <a:srgbClr val="F4F7F9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7345017" y="321857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213</a:t>
            </a:r>
            <a:endParaRPr lang="en-US" sz="700" dirty="0"/>
          </a:p>
        </p:txBody>
      </p:sp>
      <p:sp>
        <p:nvSpPr>
          <p:cNvPr id="72" name="D2 263"/>
          <p:cNvSpPr/>
          <p:nvPr/>
        </p:nvSpPr>
        <p:spPr>
          <a:xfrm>
            <a:off x="7243638" y="2995654"/>
            <a:ext cx="232576" cy="279091"/>
          </a:xfrm>
          <a:custGeom>
            <a:avLst/>
            <a:gdLst/>
            <a:ahLst/>
            <a:cxnLst/>
            <a:rect l="l" t="t" r="r" b="b"/>
            <a:pathLst>
              <a:path w="232576" h="279091">
                <a:moveTo>
                  <a:pt x="0" y="279091"/>
                </a:moveTo>
                <a:lnTo>
                  <a:pt x="232576" y="279091"/>
                </a:lnTo>
                <a:lnTo>
                  <a:pt x="232576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73" name="D2 241"/>
          <p:cNvSpPr/>
          <p:nvPr/>
        </p:nvSpPr>
        <p:spPr>
          <a:xfrm>
            <a:off x="6158285" y="1600200"/>
            <a:ext cx="542677" cy="1085353"/>
          </a:xfrm>
          <a:custGeom>
            <a:avLst/>
            <a:gdLst/>
            <a:ahLst/>
            <a:cxnLst/>
            <a:rect l="l" t="t" r="r" b="b"/>
            <a:pathLst>
              <a:path w="542677" h="1085353">
                <a:moveTo>
                  <a:pt x="0" y="806262"/>
                </a:moveTo>
                <a:lnTo>
                  <a:pt x="232576" y="806262"/>
                </a:lnTo>
                <a:lnTo>
                  <a:pt x="232576" y="1085353"/>
                </a:lnTo>
                <a:lnTo>
                  <a:pt x="542677" y="1085353"/>
                </a:lnTo>
                <a:lnTo>
                  <a:pt x="542677" y="0"/>
                </a:lnTo>
                <a:lnTo>
                  <a:pt x="0" y="0"/>
                </a:lnTo>
                <a:close/>
              </a:path>
            </a:pathLst>
          </a:custGeom>
          <a:solidFill>
            <a:srgbClr val="F4F7F9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6233823" y="215758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241</a:t>
            </a:r>
            <a:endParaRPr lang="en-US" sz="700" dirty="0"/>
          </a:p>
        </p:txBody>
      </p:sp>
      <p:sp>
        <p:nvSpPr>
          <p:cNvPr id="75" name="D2 291"/>
          <p:cNvSpPr/>
          <p:nvPr/>
        </p:nvSpPr>
        <p:spPr>
          <a:xfrm>
            <a:off x="6158285" y="2406462"/>
            <a:ext cx="232576" cy="279091"/>
          </a:xfrm>
          <a:custGeom>
            <a:avLst/>
            <a:gdLst/>
            <a:ahLst/>
            <a:cxnLst/>
            <a:rect l="l" t="t" r="r" b="b"/>
            <a:pathLst>
              <a:path w="232576" h="279091">
                <a:moveTo>
                  <a:pt x="0" y="279091"/>
                </a:moveTo>
                <a:lnTo>
                  <a:pt x="232576" y="279091"/>
                </a:lnTo>
                <a:lnTo>
                  <a:pt x="232576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76" name="D2 242"/>
          <p:cNvSpPr/>
          <p:nvPr/>
        </p:nvSpPr>
        <p:spPr>
          <a:xfrm>
            <a:off x="6700962" y="1600200"/>
            <a:ext cx="542677" cy="1085353"/>
          </a:xfrm>
          <a:custGeom>
            <a:avLst/>
            <a:gdLst/>
            <a:ahLst/>
            <a:cxnLst/>
            <a:rect l="l" t="t" r="r" b="b"/>
            <a:pathLst>
              <a:path w="542677" h="1085353">
                <a:moveTo>
                  <a:pt x="0" y="806262"/>
                </a:moveTo>
                <a:lnTo>
                  <a:pt x="232576" y="806262"/>
                </a:lnTo>
                <a:lnTo>
                  <a:pt x="232576" y="1085353"/>
                </a:lnTo>
                <a:lnTo>
                  <a:pt x="542677" y="1085353"/>
                </a:lnTo>
                <a:lnTo>
                  <a:pt x="542677" y="99675"/>
                </a:lnTo>
                <a:lnTo>
                  <a:pt x="775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4F7F9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6750657" y="2081749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242</a:t>
            </a:r>
            <a:endParaRPr lang="en-US" sz="700" dirty="0"/>
          </a:p>
        </p:txBody>
      </p:sp>
      <p:sp>
        <p:nvSpPr>
          <p:cNvPr id="78" name="D2 292"/>
          <p:cNvSpPr/>
          <p:nvPr/>
        </p:nvSpPr>
        <p:spPr>
          <a:xfrm>
            <a:off x="6700962" y="2406462"/>
            <a:ext cx="232576" cy="279091"/>
          </a:xfrm>
          <a:custGeom>
            <a:avLst/>
            <a:gdLst/>
            <a:ahLst/>
            <a:cxnLst/>
            <a:rect l="l" t="t" r="r" b="b"/>
            <a:pathLst>
              <a:path w="232576" h="279091">
                <a:moveTo>
                  <a:pt x="0" y="279091"/>
                </a:moveTo>
                <a:lnTo>
                  <a:pt x="232576" y="279091"/>
                </a:lnTo>
                <a:lnTo>
                  <a:pt x="232576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79" name="D2 243"/>
          <p:cNvSpPr/>
          <p:nvPr/>
        </p:nvSpPr>
        <p:spPr>
          <a:xfrm>
            <a:off x="7243638" y="1699875"/>
            <a:ext cx="620202" cy="985678"/>
          </a:xfrm>
          <a:custGeom>
            <a:avLst/>
            <a:gdLst/>
            <a:ahLst/>
            <a:cxnLst/>
            <a:rect l="l" t="t" r="r" b="b"/>
            <a:pathLst>
              <a:path w="620202" h="985678">
                <a:moveTo>
                  <a:pt x="0" y="706587"/>
                </a:moveTo>
                <a:lnTo>
                  <a:pt x="232576" y="706587"/>
                </a:lnTo>
                <a:lnTo>
                  <a:pt x="232576" y="985678"/>
                </a:lnTo>
                <a:lnTo>
                  <a:pt x="620202" y="985678"/>
                </a:lnTo>
                <a:lnTo>
                  <a:pt x="620202" y="132900"/>
                </a:lnTo>
                <a:lnTo>
                  <a:pt x="0" y="0"/>
                </a:lnTo>
                <a:close/>
              </a:path>
            </a:pathLst>
          </a:custGeom>
          <a:solidFill>
            <a:srgbClr val="F4F7F9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7345017" y="221296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243</a:t>
            </a:r>
            <a:endParaRPr lang="en-US" sz="700" dirty="0"/>
          </a:p>
        </p:txBody>
      </p:sp>
      <p:sp>
        <p:nvSpPr>
          <p:cNvPr id="81" name="D2 293"/>
          <p:cNvSpPr/>
          <p:nvPr/>
        </p:nvSpPr>
        <p:spPr>
          <a:xfrm>
            <a:off x="7243638" y="2406462"/>
            <a:ext cx="232576" cy="279091"/>
          </a:xfrm>
          <a:custGeom>
            <a:avLst/>
            <a:gdLst/>
            <a:ahLst/>
            <a:cxnLst/>
            <a:rect l="l" t="t" r="r" b="b"/>
            <a:pathLst>
              <a:path w="232576" h="279091">
                <a:moveTo>
                  <a:pt x="0" y="279091"/>
                </a:moveTo>
                <a:lnTo>
                  <a:pt x="232576" y="279091"/>
                </a:lnTo>
                <a:lnTo>
                  <a:pt x="232576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82" name="D2 outline"/>
          <p:cNvSpPr/>
          <p:nvPr/>
        </p:nvSpPr>
        <p:spPr>
          <a:xfrm>
            <a:off x="4297680" y="1600200"/>
            <a:ext cx="3566160" cy="2170706"/>
          </a:xfrm>
          <a:custGeom>
            <a:avLst/>
            <a:gdLst/>
            <a:ahLst/>
            <a:cxnLst/>
            <a:rect l="l" t="t" r="r" b="b"/>
            <a:pathLst>
              <a:path w="3566160" h="2170706">
                <a:moveTo>
                  <a:pt x="0" y="2170706"/>
                </a:moveTo>
                <a:lnTo>
                  <a:pt x="2480807" y="2170706"/>
                </a:lnTo>
                <a:lnTo>
                  <a:pt x="3566160" y="1938130"/>
                </a:lnTo>
                <a:lnTo>
                  <a:pt x="3566160" y="232576"/>
                </a:lnTo>
                <a:lnTo>
                  <a:pt x="2480807" y="0"/>
                </a:lnTo>
                <a:lnTo>
                  <a:pt x="0" y="0"/>
                </a:lnTo>
                <a:close/>
              </a:path>
            </a:pathLst>
          </a:custGeom>
          <a:ln w="22225">
            <a:solidFill>
              <a:srgbClr val="1B2A3A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8138160" y="1188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BRIDGE DK · Z 5800 mm</a:t>
            </a:r>
            <a:endParaRPr lang="en-US" sz="1200" dirty="0"/>
          </a:p>
        </p:txBody>
      </p:sp>
      <p:sp>
        <p:nvSpPr>
          <p:cNvPr id="84" name="D3 301"/>
          <p:cNvSpPr/>
          <p:nvPr/>
        </p:nvSpPr>
        <p:spPr>
          <a:xfrm>
            <a:off x="8138160" y="2918129"/>
            <a:ext cx="542677" cy="852777"/>
          </a:xfrm>
          <a:custGeom>
            <a:avLst/>
            <a:gdLst/>
            <a:ahLst/>
            <a:cxnLst/>
            <a:rect l="l" t="t" r="r" b="b"/>
            <a:pathLst>
              <a:path w="542677" h="852777">
                <a:moveTo>
                  <a:pt x="0" y="852777"/>
                </a:moveTo>
                <a:lnTo>
                  <a:pt x="542677" y="852777"/>
                </a:lnTo>
                <a:lnTo>
                  <a:pt x="542677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8226618" y="3271365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301</a:t>
            </a:r>
            <a:endParaRPr lang="en-US" sz="700" dirty="0"/>
          </a:p>
        </p:txBody>
      </p:sp>
      <p:sp>
        <p:nvSpPr>
          <p:cNvPr id="86" name="D3 302"/>
          <p:cNvSpPr/>
          <p:nvPr/>
        </p:nvSpPr>
        <p:spPr>
          <a:xfrm>
            <a:off x="8138160" y="2608028"/>
            <a:ext cx="2170706" cy="387626"/>
          </a:xfrm>
          <a:custGeom>
            <a:avLst/>
            <a:gdLst/>
            <a:ahLst/>
            <a:cxnLst/>
            <a:rect l="l" t="t" r="r" b="b"/>
            <a:pathLst>
              <a:path w="2170706" h="387626">
                <a:moveTo>
                  <a:pt x="0" y="310101"/>
                </a:moveTo>
                <a:lnTo>
                  <a:pt x="1007828" y="310101"/>
                </a:lnTo>
                <a:lnTo>
                  <a:pt x="1007828" y="387626"/>
                </a:lnTo>
                <a:lnTo>
                  <a:pt x="2170706" y="387626"/>
                </a:lnTo>
                <a:lnTo>
                  <a:pt x="2170706" y="77525"/>
                </a:lnTo>
                <a:lnTo>
                  <a:pt x="1007828" y="77525"/>
                </a:lnTo>
                <a:lnTo>
                  <a:pt x="1007828" y="0"/>
                </a:lnTo>
                <a:lnTo>
                  <a:pt x="0" y="0"/>
                </a:lnTo>
                <a:close/>
              </a:path>
            </a:pathLst>
          </a:custGeom>
          <a:solidFill>
            <a:srgbClr val="CDEBEE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9001870" y="2728689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302</a:t>
            </a:r>
            <a:endParaRPr lang="en-US" sz="700" dirty="0"/>
          </a:p>
        </p:txBody>
      </p:sp>
      <p:sp>
        <p:nvSpPr>
          <p:cNvPr id="88" name="D3 303"/>
          <p:cNvSpPr/>
          <p:nvPr/>
        </p:nvSpPr>
        <p:spPr>
          <a:xfrm>
            <a:off x="8680837" y="2142877"/>
            <a:ext cx="387626" cy="465151"/>
          </a:xfrm>
          <a:custGeom>
            <a:avLst/>
            <a:gdLst/>
            <a:ahLst/>
            <a:cxnLst/>
            <a:rect l="l" t="t" r="r" b="b"/>
            <a:pathLst>
              <a:path w="387626" h="465151">
                <a:moveTo>
                  <a:pt x="0" y="465151"/>
                </a:moveTo>
                <a:lnTo>
                  <a:pt x="387626" y="465151"/>
                </a:lnTo>
                <a:lnTo>
                  <a:pt x="387626" y="0"/>
                </a:lnTo>
                <a:lnTo>
                  <a:pt x="0" y="0"/>
                </a:lnTo>
                <a:close/>
              </a:path>
            </a:pathLst>
          </a:custGeom>
          <a:solidFill>
            <a:srgbClr val="F4F7F9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8691770" y="230230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303</a:t>
            </a:r>
            <a:endParaRPr lang="en-US" sz="700" dirty="0"/>
          </a:p>
        </p:txBody>
      </p:sp>
      <p:sp>
        <p:nvSpPr>
          <p:cNvPr id="90" name="D3 305"/>
          <p:cNvSpPr/>
          <p:nvPr/>
        </p:nvSpPr>
        <p:spPr>
          <a:xfrm>
            <a:off x="8138160" y="2297927"/>
            <a:ext cx="232576" cy="310101"/>
          </a:xfrm>
          <a:custGeom>
            <a:avLst/>
            <a:gdLst/>
            <a:ahLst/>
            <a:cxnLst/>
            <a:rect l="l" t="t" r="r" b="b"/>
            <a:pathLst>
              <a:path w="232576" h="310101">
                <a:moveTo>
                  <a:pt x="0" y="310101"/>
                </a:moveTo>
                <a:lnTo>
                  <a:pt x="232576" y="310101"/>
                </a:lnTo>
                <a:lnTo>
                  <a:pt x="232576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91" name="D3 304"/>
          <p:cNvSpPr/>
          <p:nvPr/>
        </p:nvSpPr>
        <p:spPr>
          <a:xfrm>
            <a:off x="8370736" y="2375452"/>
            <a:ext cx="310101" cy="232576"/>
          </a:xfrm>
          <a:custGeom>
            <a:avLst/>
            <a:gdLst/>
            <a:ahLst/>
            <a:cxnLst/>
            <a:rect l="l" t="t" r="r" b="b"/>
            <a:pathLst>
              <a:path w="310101" h="232576">
                <a:moveTo>
                  <a:pt x="0" y="232576"/>
                </a:moveTo>
                <a:lnTo>
                  <a:pt x="310101" y="232576"/>
                </a:lnTo>
                <a:lnTo>
                  <a:pt x="310101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8342906" y="241858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304</a:t>
            </a:r>
            <a:endParaRPr lang="en-US" sz="700" dirty="0"/>
          </a:p>
        </p:txBody>
      </p:sp>
      <p:sp>
        <p:nvSpPr>
          <p:cNvPr id="93" name="D3 308"/>
          <p:cNvSpPr/>
          <p:nvPr/>
        </p:nvSpPr>
        <p:spPr>
          <a:xfrm>
            <a:off x="8138160" y="1600200"/>
            <a:ext cx="232576" cy="697727"/>
          </a:xfrm>
          <a:custGeom>
            <a:avLst/>
            <a:gdLst/>
            <a:ahLst/>
            <a:cxnLst/>
            <a:rect l="l" t="t" r="r" b="b"/>
            <a:pathLst>
              <a:path w="232576" h="697727">
                <a:moveTo>
                  <a:pt x="0" y="697727"/>
                </a:moveTo>
                <a:lnTo>
                  <a:pt x="232576" y="697727"/>
                </a:lnTo>
                <a:lnTo>
                  <a:pt x="232576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94" name="D3 306"/>
          <p:cNvSpPr/>
          <p:nvPr/>
        </p:nvSpPr>
        <p:spPr>
          <a:xfrm>
            <a:off x="8370736" y="1600200"/>
            <a:ext cx="310101" cy="775252"/>
          </a:xfrm>
          <a:custGeom>
            <a:avLst/>
            <a:gdLst/>
            <a:ahLst/>
            <a:cxnLst/>
            <a:rect l="l" t="t" r="r" b="b"/>
            <a:pathLst>
              <a:path w="310101" h="775252">
                <a:moveTo>
                  <a:pt x="0" y="775252"/>
                </a:moveTo>
                <a:lnTo>
                  <a:pt x="310101" y="775252"/>
                </a:lnTo>
                <a:lnTo>
                  <a:pt x="310101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8342906" y="191467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306</a:t>
            </a:r>
            <a:endParaRPr lang="en-US" sz="700" dirty="0"/>
          </a:p>
        </p:txBody>
      </p:sp>
      <p:sp>
        <p:nvSpPr>
          <p:cNvPr id="96" name="D3 307"/>
          <p:cNvSpPr/>
          <p:nvPr/>
        </p:nvSpPr>
        <p:spPr>
          <a:xfrm>
            <a:off x="8680837" y="1600200"/>
            <a:ext cx="387626" cy="542677"/>
          </a:xfrm>
          <a:custGeom>
            <a:avLst/>
            <a:gdLst/>
            <a:ahLst/>
            <a:cxnLst/>
            <a:rect l="l" t="t" r="r" b="b"/>
            <a:pathLst>
              <a:path w="387626" h="542677">
                <a:moveTo>
                  <a:pt x="0" y="542677"/>
                </a:moveTo>
                <a:lnTo>
                  <a:pt x="387626" y="542677"/>
                </a:lnTo>
                <a:lnTo>
                  <a:pt x="387626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8691770" y="179838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307</a:t>
            </a:r>
            <a:endParaRPr lang="en-US" sz="700" dirty="0"/>
          </a:p>
        </p:txBody>
      </p:sp>
      <p:sp>
        <p:nvSpPr>
          <p:cNvPr id="98" name="D3 310"/>
          <p:cNvSpPr/>
          <p:nvPr/>
        </p:nvSpPr>
        <p:spPr>
          <a:xfrm>
            <a:off x="8680837" y="2918129"/>
            <a:ext cx="465151" cy="852777"/>
          </a:xfrm>
          <a:custGeom>
            <a:avLst/>
            <a:gdLst/>
            <a:ahLst/>
            <a:cxnLst/>
            <a:rect l="l" t="t" r="r" b="b"/>
            <a:pathLst>
              <a:path w="465151" h="852777">
                <a:moveTo>
                  <a:pt x="0" y="852777"/>
                </a:moveTo>
                <a:lnTo>
                  <a:pt x="465151" y="852777"/>
                </a:lnTo>
                <a:lnTo>
                  <a:pt x="465151" y="0"/>
                </a:lnTo>
                <a:lnTo>
                  <a:pt x="0" y="0"/>
                </a:lnTo>
                <a:close/>
              </a:path>
            </a:pathLst>
          </a:custGeom>
          <a:solidFill>
            <a:srgbClr val="F4F7F9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8730532" y="3271365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310</a:t>
            </a:r>
            <a:endParaRPr lang="en-US" sz="700" dirty="0"/>
          </a:p>
        </p:txBody>
      </p:sp>
      <p:sp>
        <p:nvSpPr>
          <p:cNvPr id="100" name="D3 309"/>
          <p:cNvSpPr/>
          <p:nvPr/>
        </p:nvSpPr>
        <p:spPr>
          <a:xfrm>
            <a:off x="9068463" y="1600200"/>
            <a:ext cx="77525" cy="1007828"/>
          </a:xfrm>
          <a:custGeom>
            <a:avLst/>
            <a:gdLst/>
            <a:ahLst/>
            <a:cxnLst/>
            <a:rect l="l" t="t" r="r" b="b"/>
            <a:pathLst>
              <a:path w="77525" h="1007828">
                <a:moveTo>
                  <a:pt x="0" y="1007828"/>
                </a:moveTo>
                <a:lnTo>
                  <a:pt x="77525" y="1007828"/>
                </a:lnTo>
                <a:lnTo>
                  <a:pt x="77525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101" name="D3 311"/>
          <p:cNvSpPr/>
          <p:nvPr/>
        </p:nvSpPr>
        <p:spPr>
          <a:xfrm>
            <a:off x="9145988" y="2995654"/>
            <a:ext cx="1162878" cy="775252"/>
          </a:xfrm>
          <a:custGeom>
            <a:avLst/>
            <a:gdLst/>
            <a:ahLst/>
            <a:cxnLst/>
            <a:rect l="l" t="t" r="r" b="b"/>
            <a:pathLst>
              <a:path w="1162878" h="775252">
                <a:moveTo>
                  <a:pt x="0" y="775252"/>
                </a:moveTo>
                <a:lnTo>
                  <a:pt x="1007828" y="775252"/>
                </a:lnTo>
                <a:lnTo>
                  <a:pt x="1162878" y="742027"/>
                </a:lnTo>
                <a:lnTo>
                  <a:pt x="1162878" y="0"/>
                </a:lnTo>
                <a:lnTo>
                  <a:pt x="232576" y="0"/>
                </a:lnTo>
                <a:lnTo>
                  <a:pt x="232576" y="279091"/>
                </a:lnTo>
                <a:lnTo>
                  <a:pt x="0" y="279091"/>
                </a:lnTo>
                <a:close/>
              </a:path>
            </a:pathLst>
          </a:custGeom>
          <a:solidFill>
            <a:srgbClr val="F4F7F9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9505784" y="3329747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311</a:t>
            </a:r>
            <a:endParaRPr lang="en-US" sz="700" dirty="0"/>
          </a:p>
        </p:txBody>
      </p:sp>
      <p:sp>
        <p:nvSpPr>
          <p:cNvPr id="103" name="D3 361"/>
          <p:cNvSpPr/>
          <p:nvPr/>
        </p:nvSpPr>
        <p:spPr>
          <a:xfrm>
            <a:off x="9145988" y="2995654"/>
            <a:ext cx="232576" cy="279091"/>
          </a:xfrm>
          <a:custGeom>
            <a:avLst/>
            <a:gdLst/>
            <a:ahLst/>
            <a:cxnLst/>
            <a:rect l="l" t="t" r="r" b="b"/>
            <a:pathLst>
              <a:path w="232576" h="279091">
                <a:moveTo>
                  <a:pt x="0" y="279091"/>
                </a:moveTo>
                <a:lnTo>
                  <a:pt x="232576" y="279091"/>
                </a:lnTo>
                <a:lnTo>
                  <a:pt x="232576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104" name="D3 321"/>
          <p:cNvSpPr/>
          <p:nvPr/>
        </p:nvSpPr>
        <p:spPr>
          <a:xfrm>
            <a:off x="9145988" y="1600200"/>
            <a:ext cx="1162878" cy="1085353"/>
          </a:xfrm>
          <a:custGeom>
            <a:avLst/>
            <a:gdLst/>
            <a:ahLst/>
            <a:cxnLst/>
            <a:rect l="l" t="t" r="r" b="b"/>
            <a:pathLst>
              <a:path w="1162878" h="1085353">
                <a:moveTo>
                  <a:pt x="0" y="806262"/>
                </a:moveTo>
                <a:lnTo>
                  <a:pt x="232576" y="806262"/>
                </a:lnTo>
                <a:lnTo>
                  <a:pt x="232576" y="1085353"/>
                </a:lnTo>
                <a:lnTo>
                  <a:pt x="1162878" y="1085353"/>
                </a:lnTo>
                <a:lnTo>
                  <a:pt x="1162878" y="33225"/>
                </a:lnTo>
                <a:lnTo>
                  <a:pt x="1007828" y="0"/>
                </a:lnTo>
                <a:lnTo>
                  <a:pt x="0" y="0"/>
                </a:lnTo>
                <a:close/>
              </a:path>
            </a:pathLst>
          </a:custGeom>
          <a:solidFill>
            <a:srgbClr val="F4F7F9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9505784" y="207225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321</a:t>
            </a:r>
            <a:endParaRPr lang="en-US" sz="700" dirty="0"/>
          </a:p>
        </p:txBody>
      </p:sp>
      <p:sp>
        <p:nvSpPr>
          <p:cNvPr id="106" name="D3 371"/>
          <p:cNvSpPr/>
          <p:nvPr/>
        </p:nvSpPr>
        <p:spPr>
          <a:xfrm>
            <a:off x="9145988" y="2406462"/>
            <a:ext cx="232576" cy="279091"/>
          </a:xfrm>
          <a:custGeom>
            <a:avLst/>
            <a:gdLst/>
            <a:ahLst/>
            <a:cxnLst/>
            <a:rect l="l" t="t" r="r" b="b"/>
            <a:pathLst>
              <a:path w="232576" h="279091">
                <a:moveTo>
                  <a:pt x="0" y="279091"/>
                </a:moveTo>
                <a:lnTo>
                  <a:pt x="232576" y="279091"/>
                </a:lnTo>
                <a:lnTo>
                  <a:pt x="232576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107" name="D3 330"/>
          <p:cNvSpPr/>
          <p:nvPr/>
        </p:nvSpPr>
        <p:spPr>
          <a:xfrm>
            <a:off x="10308866" y="1633425"/>
            <a:ext cx="930303" cy="2104256"/>
          </a:xfrm>
          <a:custGeom>
            <a:avLst/>
            <a:gdLst/>
            <a:ahLst/>
            <a:cxnLst/>
            <a:rect l="l" t="t" r="r" b="b"/>
            <a:pathLst>
              <a:path w="930303" h="2104256">
                <a:moveTo>
                  <a:pt x="930303" y="1904905"/>
                </a:moveTo>
                <a:lnTo>
                  <a:pt x="930303" y="199351"/>
                </a:lnTo>
                <a:lnTo>
                  <a:pt x="0" y="0"/>
                </a:lnTo>
                <a:lnTo>
                  <a:pt x="0" y="2104256"/>
                </a:lnTo>
                <a:close/>
              </a:path>
            </a:pathLst>
          </a:custGeom>
          <a:solidFill>
            <a:srgbClr val="FCE9D2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10591137" y="2612401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330</a:t>
            </a:r>
            <a:endParaRPr lang="en-US" sz="700" dirty="0"/>
          </a:p>
        </p:txBody>
      </p:sp>
      <p:sp>
        <p:nvSpPr>
          <p:cNvPr id="109" name="D3 outline"/>
          <p:cNvSpPr/>
          <p:nvPr/>
        </p:nvSpPr>
        <p:spPr>
          <a:xfrm>
            <a:off x="8138160" y="1600200"/>
            <a:ext cx="3101009" cy="2170706"/>
          </a:xfrm>
          <a:custGeom>
            <a:avLst/>
            <a:gdLst/>
            <a:ahLst/>
            <a:cxnLst/>
            <a:rect l="l" t="t" r="r" b="b"/>
            <a:pathLst>
              <a:path w="3101009" h="2170706">
                <a:moveTo>
                  <a:pt x="0" y="2170706"/>
                </a:moveTo>
                <a:lnTo>
                  <a:pt x="2015656" y="2170706"/>
                </a:lnTo>
                <a:lnTo>
                  <a:pt x="3101009" y="1938130"/>
                </a:lnTo>
                <a:lnTo>
                  <a:pt x="3101009" y="232576"/>
                </a:lnTo>
                <a:lnTo>
                  <a:pt x="2015656" y="0"/>
                </a:lnTo>
                <a:lnTo>
                  <a:pt x="0" y="0"/>
                </a:lnTo>
                <a:close/>
              </a:path>
            </a:pathLst>
          </a:custGeom>
          <a:ln w="22225">
            <a:solidFill>
              <a:srgbClr val="1B2A3A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457200" y="3862346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외곽선 (아웃라인)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테이퍼 선수 · 3층이 3 m 짧은 계단형. 선수 쪽 실은 선체선에 맞춰 잘림.</a:t>
            </a:r>
            <a:endParaRPr lang="en-US" sz="1300" dirty="0"/>
          </a:p>
        </p:txBody>
      </p:sp>
      <p:sp>
        <p:nvSpPr>
          <p:cNvPr id="111" name="Text 109"/>
          <p:cNvSpPr txBox="1"/>
          <p:nvPr/>
        </p:nvSpPr>
        <p:spPr>
          <a:xfrm>
            <a:off x="4297680" y="3862346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(인라인)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중간에 꺾인 복도 (복도 5.5 → 5 m). 조리실 우현 · 의무실 좌현.</a:t>
            </a:r>
            <a:endParaRPr lang="en-US" sz="1300" dirty="0"/>
          </a:p>
        </p:txBody>
      </p:sp>
      <p:sp>
        <p:nvSpPr>
          <p:cNvPr id="112" name="Text 110"/>
          <p:cNvSpPr txBox="1"/>
          <p:nvPr/>
        </p:nvSpPr>
        <p:spPr>
          <a:xfrm>
            <a:off x="8138160" y="3862346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청록 복도 · 주황 조리실 · 연주황 조타실 · 밝은 회색 급기 실 · 회색 급기 없는 실. 숫자는 실 번호.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도면을 BOX로 — 3개 Deck</a:t>
            </a:r>
            <a:endParaRPr lang="en-US" sz="2800" dirty="0"/>
          </a:p>
        </p:txBody>
      </p:sp>
      <p:pic>
        <p:nvPicPr>
          <p:cNvPr id="3" name="Image 0" descr="① 도면을 BOX로 — 3개 Deck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7955280" cy="447484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7955280" cy="4474845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5635" y="1522390"/>
            <a:ext cx="347472" cy="347472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9915" y="1476670"/>
            <a:ext cx="91440" cy="91440"/>
          </a:xfrm>
          <a:prstGeom prst="ellipse">
            <a:avLst/>
          </a:prstGeom>
          <a:solidFill>
            <a:srgbClr val="0F8B8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27659" y="1714414"/>
            <a:ext cx="310896" cy="310896"/>
          </a:xfrm>
          <a:prstGeom prst="ellipse">
            <a:avLst/>
          </a:prstGeom>
          <a:solidFill>
            <a:srgbClr val="0F8B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27659" y="171441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0" y="1115568"/>
            <a:ext cx="274320" cy="2743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0" y="1115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098280" y="10972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DXF 3장(1층 R12 한글)을 BOX로 열어 Deck 3개, 실 59개를 번호·이름까지 읽음. 빠진 실 0개.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89604" y="2987231"/>
            <a:ext cx="347472" cy="347472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991356" y="3288983"/>
            <a:ext cx="91440" cy="91440"/>
          </a:xfrm>
          <a:prstGeom prst="ellipse">
            <a:avLst/>
          </a:prstGeom>
          <a:solidFill>
            <a:srgbClr val="0F8B8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34156" y="2831783"/>
            <a:ext cx="310896" cy="310896"/>
          </a:xfrm>
          <a:prstGeom prst="ellipse">
            <a:avLst/>
          </a:prstGeom>
          <a:solidFill>
            <a:srgbClr val="0F8B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534156" y="283178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686800" y="1965960"/>
            <a:ext cx="274320" cy="2743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9098280" y="194767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도면: 벽은 LINE, 실 번호·이름은 TEXT. 선수 쪽 실은 선체선(외곽선)에 맞춰 잘려 있음.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508138" y="2002765"/>
            <a:ext cx="347472" cy="347472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809890" y="2304517"/>
            <a:ext cx="91440" cy="91440"/>
          </a:xfrm>
          <a:prstGeom prst="ellipse">
            <a:avLst/>
          </a:prstGeom>
          <a:solidFill>
            <a:srgbClr val="0F8B8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52690" y="1847317"/>
            <a:ext cx="310896" cy="310896"/>
          </a:xfrm>
          <a:prstGeom prst="ellipse">
            <a:avLst/>
          </a:prstGeom>
          <a:solidFill>
            <a:srgbClr val="0F8B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52690" y="184731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686800" y="2816352"/>
            <a:ext cx="274320" cy="2743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686800" y="2816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9098280" y="2798064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Deck 목록에 이름·Z·높이를 입력하고, 외곽선 18변을 하부·상부 외곽선(OL)으로 지정.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5645277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화면: HVAC Grid 실행 중 캡처 — 번호는 오른쪽 설명과 짝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격실 입력 — 설계자가 넣는 값</a:t>
            </a:r>
            <a:endParaRPr lang="en-US" sz="2800" dirty="0"/>
          </a:p>
        </p:txBody>
      </p:sp>
      <p:pic>
        <p:nvPicPr>
          <p:cNvPr id="3" name="Image 0" descr="② 격실 입력 — 설계자가 넣는 값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7955280" cy="447484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7955280" cy="4474845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 flipH="1">
            <a:off x="666598" y="1195727"/>
            <a:ext cx="347472" cy="347472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68350" y="1150007"/>
            <a:ext cx="91440" cy="91440"/>
          </a:xfrm>
          <a:prstGeom prst="ellipse">
            <a:avLst/>
          </a:prstGeom>
          <a:solidFill>
            <a:srgbClr val="0F8B8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11150" y="1387751"/>
            <a:ext cx="310896" cy="310896"/>
          </a:xfrm>
          <a:prstGeom prst="ellipse">
            <a:avLst/>
          </a:prstGeom>
          <a:solidFill>
            <a:srgbClr val="0F8B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11150" y="138775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0" y="1115568"/>
            <a:ext cx="274320" cy="2743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0" y="1115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098280" y="10972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격실 입력 표(BOX CAL)에 767칸을 붙여넣음(엑셀 붙여넣기와 같은 경로).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04461" y="1519481"/>
            <a:ext cx="347472" cy="347472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906213" y="1821233"/>
            <a:ext cx="91440" cy="91440"/>
          </a:xfrm>
          <a:prstGeom prst="ellipse">
            <a:avLst/>
          </a:prstGeom>
          <a:solidFill>
            <a:srgbClr val="0F8B8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49013" y="1364033"/>
            <a:ext cx="310896" cy="310896"/>
          </a:xfrm>
          <a:prstGeom prst="ellipse">
            <a:avLst/>
          </a:prstGeom>
          <a:solidFill>
            <a:srgbClr val="0F8B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49013" y="136403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686800" y="1965960"/>
            <a:ext cx="274320" cy="2743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9098280" y="194767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계통: SUP(급기)·EXH(배기)·RET(환기). 이것으로 Grid가 계통을 만듦.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291840" y="1519481"/>
            <a:ext cx="347472" cy="347472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593592" y="1821233"/>
            <a:ext cx="91440" cy="91440"/>
          </a:xfrm>
          <a:prstGeom prst="ellipse">
            <a:avLst/>
          </a:prstGeom>
          <a:solidFill>
            <a:srgbClr val="0F8B8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136392" y="1364033"/>
            <a:ext cx="310896" cy="310896"/>
          </a:xfrm>
          <a:prstGeom prst="ellipse">
            <a:avLst/>
          </a:prstGeom>
          <a:solidFill>
            <a:srgbClr val="0F8B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136392" y="136403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686800" y="2816352"/>
            <a:ext cx="274320" cy="2743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686800" y="2816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9098280" y="2798064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온습도: 급기 있는 실 25 ℃/55 %, 급기 없는 실은 ISO 7547 표 1 차이.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712610" y="1519481"/>
            <a:ext cx="347472" cy="347472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014362" y="1821233"/>
            <a:ext cx="91440" cy="91440"/>
          </a:xfrm>
          <a:prstGeom prst="ellipse">
            <a:avLst/>
          </a:prstGeom>
          <a:solidFill>
            <a:srgbClr val="0F8B8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557162" y="1364033"/>
            <a:ext cx="310896" cy="310896"/>
          </a:xfrm>
          <a:prstGeom prst="ellipse">
            <a:avLst/>
          </a:prstGeom>
          <a:solidFill>
            <a:srgbClr val="0F8B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57162" y="136403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8686800" y="3666744"/>
            <a:ext cx="274320" cy="2743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86800" y="3666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9098280" y="3648456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인원·최소 신기·장비 발열·환기 횟수. ISO 구분은 비워 둠 → BOX가 실 이름으로 정함(ENGINE 3, ALLEY_SOUND 3, NON_AC 12, WHEELHOUSE 1).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" y="5645277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화면: HVAC Grid 실행 중 캡처 — 번호는 오른쪽 설명과 짝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부하 — BOX CAL 격실 부하</a:t>
            </a:r>
            <a:endParaRPr lang="en-US" sz="2800" dirty="0"/>
          </a:p>
        </p:txBody>
      </p:sp>
      <p:pic>
        <p:nvPicPr>
          <p:cNvPr id="3" name="Image 0" descr="② 부하 — BOX CAL 격실 부하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7955280" cy="447484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7955280" cy="4474845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 flipH="1">
            <a:off x="666598" y="1432893"/>
            <a:ext cx="347472" cy="347472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68350" y="1387173"/>
            <a:ext cx="91440" cy="91440"/>
          </a:xfrm>
          <a:prstGeom prst="ellipse">
            <a:avLst/>
          </a:prstGeom>
          <a:solidFill>
            <a:srgbClr val="0F8B8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11150" y="1624917"/>
            <a:ext cx="310896" cy="310896"/>
          </a:xfrm>
          <a:prstGeom prst="ellipse">
            <a:avLst/>
          </a:prstGeom>
          <a:solidFill>
            <a:srgbClr val="0F8B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11150" y="162491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0" y="1115568"/>
            <a:ext cx="274320" cy="2743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0" y="1115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098280" y="10972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실 부하 계산 완료(미완료 0실). 이 값으로 설계 데이터 59실을 만듦.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098280" y="194767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계통 10개 · 급기 합계 14,280 CMH · 여러 Deck 계통: AHU-1, EF-SAN, RA-1.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5645277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화면: HVAC Grid 실행 중 캡처 — 번호는 오른쪽 설명과 짝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풍량 — 여름 풍량 하나 (F-1)</a:t>
            </a:r>
            <a:endParaRPr lang="en-US" sz="2800" dirty="0"/>
          </a:p>
        </p:txBody>
      </p:sp>
      <p:pic>
        <p:nvPicPr>
          <p:cNvPr id="3" name="Image 0" descr="③ 풍량 — 여름 풍량 하나 (F-1)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7955280" cy="447484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7955280" cy="4474845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 flipH="1">
            <a:off x="1064362" y="1500016"/>
            <a:ext cx="347472" cy="347472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366114" y="1454296"/>
            <a:ext cx="91440" cy="91440"/>
          </a:xfrm>
          <a:prstGeom prst="ellipse">
            <a:avLst/>
          </a:prstGeom>
          <a:solidFill>
            <a:srgbClr val="0F8B8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08914" y="1692040"/>
            <a:ext cx="310896" cy="310896"/>
          </a:xfrm>
          <a:prstGeom prst="ellipse">
            <a:avLst/>
          </a:prstGeom>
          <a:solidFill>
            <a:srgbClr val="0F8B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08914" y="1692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0" y="1115568"/>
            <a:ext cx="274320" cy="2743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0" y="1115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098280" y="10972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풍량 규칙: 급기 ΔT 10 K, 가압 5 %, 최소 신기 25 %. 풍량 = 여름 냉방 현열 또는 최소 신기 중 큰 값.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 flipH="1">
            <a:off x="3530498" y="1500016"/>
            <a:ext cx="347472" cy="347472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832250" y="1454296"/>
            <a:ext cx="91440" cy="91440"/>
          </a:xfrm>
          <a:prstGeom prst="ellipse">
            <a:avLst/>
          </a:prstGeom>
          <a:solidFill>
            <a:srgbClr val="0F8B8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75050" y="1692040"/>
            <a:ext cx="310896" cy="310896"/>
          </a:xfrm>
          <a:prstGeom prst="ellipse">
            <a:avLst/>
          </a:prstGeom>
          <a:solidFill>
            <a:srgbClr val="0F8B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375050" y="1692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686800" y="2194560"/>
            <a:ext cx="274320" cy="2743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0" y="2194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9098280" y="2176272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계통 선택: 급기·배기·환기. 공조 구역 AHU-1 SA 11370 OA 3800 적합 / SF-GAL SA 2910 OA 2910 적합.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848710" y="2987231"/>
            <a:ext cx="347472" cy="347472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50462" y="3288983"/>
            <a:ext cx="91440" cy="91440"/>
          </a:xfrm>
          <a:prstGeom prst="ellipse">
            <a:avLst/>
          </a:prstGeom>
          <a:solidFill>
            <a:srgbClr val="0F8B8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693262" y="2831783"/>
            <a:ext cx="310896" cy="310896"/>
          </a:xfrm>
          <a:prstGeom prst="ellipse">
            <a:avLst/>
          </a:prstGeom>
          <a:solidFill>
            <a:srgbClr val="0F8B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693262" y="283178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686800" y="3273552"/>
            <a:ext cx="274320" cy="2743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686800" y="3273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9098280" y="325526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평면: 실마다 급기 풍량(CMH), 화장실로 가는 화살표는 전달 공기.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269480" y="2002765"/>
            <a:ext cx="347472" cy="347472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571232" y="2304517"/>
            <a:ext cx="91440" cy="91440"/>
          </a:xfrm>
          <a:prstGeom prst="ellipse">
            <a:avLst/>
          </a:prstGeom>
          <a:solidFill>
            <a:srgbClr val="0F8B8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114032" y="1847317"/>
            <a:ext cx="310896" cy="310896"/>
          </a:xfrm>
          <a:prstGeom prst="ellipse">
            <a:avLst/>
          </a:prstGeom>
          <a:solidFill>
            <a:srgbClr val="0F8B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114032" y="184731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8686800" y="3895344"/>
            <a:ext cx="274320" cy="2743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86800" y="3895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9098280" y="3877056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Deck 요약과 계통 카드. 난방으로 풍량을 정한 실 0개 — 겨울은 난방 용량으로.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" y="5645277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화면: HVAC Grid 실행 중 캡처 — 번호는 오른쪽 설명과 짝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배기팬 위치 지정</a:t>
            </a:r>
            <a:endParaRPr lang="en-US" sz="2800" dirty="0"/>
          </a:p>
        </p:txBody>
      </p:sp>
      <p:pic>
        <p:nvPicPr>
          <p:cNvPr id="3" name="Image 0" descr="③ 배기팬 위치 지정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7955280" cy="447484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7955280" cy="4474845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 flipH="1">
            <a:off x="4644238" y="1500016"/>
            <a:ext cx="347472" cy="347472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945990" y="1454296"/>
            <a:ext cx="91440" cy="91440"/>
          </a:xfrm>
          <a:prstGeom prst="ellipse">
            <a:avLst/>
          </a:prstGeom>
          <a:solidFill>
            <a:srgbClr val="0F8B8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488790" y="1692040"/>
            <a:ext cx="310896" cy="310896"/>
          </a:xfrm>
          <a:prstGeom prst="ellipse">
            <a:avLst/>
          </a:prstGeom>
          <a:solidFill>
            <a:srgbClr val="0F8B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88790" y="1692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0" y="1115568"/>
            <a:ext cx="274320" cy="2743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0" y="1115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098280" y="1097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"위치 지정"을 누르고 평면에서 실을 클릭.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087368" y="2987231"/>
            <a:ext cx="347472" cy="347472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89120" y="3288983"/>
            <a:ext cx="91440" cy="91440"/>
          </a:xfrm>
          <a:prstGeom prst="ellipse">
            <a:avLst/>
          </a:prstGeom>
          <a:solidFill>
            <a:srgbClr val="0F8B8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931920" y="2831783"/>
            <a:ext cx="310896" cy="310896"/>
          </a:xfrm>
          <a:prstGeom prst="ellipse">
            <a:avLst/>
          </a:prstGeom>
          <a:solidFill>
            <a:srgbClr val="0F8B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931920" y="283178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686800" y="1737360"/>
            <a:ext cx="274320" cy="2743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9098280" y="1719072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의무실 배기(EF-HOS)는 그 Deck에 팬룸이 없어 린넨창고에 지정 — "assumed:corridor-end:202" → "user".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2098548" y="5157530"/>
            <a:ext cx="347472" cy="347472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400300" y="5459282"/>
            <a:ext cx="91440" cy="91440"/>
          </a:xfrm>
          <a:prstGeom prst="ellipse">
            <a:avLst/>
          </a:prstGeom>
          <a:solidFill>
            <a:srgbClr val="0F8B8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943100" y="5002082"/>
            <a:ext cx="310896" cy="310896"/>
          </a:xfrm>
          <a:prstGeom prst="ellipse">
            <a:avLst/>
          </a:prstGeom>
          <a:solidFill>
            <a:srgbClr val="0F8B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943100" y="500208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686800" y="2816352"/>
            <a:ext cx="274320" cy="2743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686800" y="2816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9098280" y="279806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EF-HOS 팬 위치: 232 린넨창고 (CREW DK)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5645277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화면: HVAC Grid 실행 중 캡처 — 번호는 오른쪽 설명과 짝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모든 계통 AUTO — PHG D 덕트망</a:t>
            </a:r>
            <a:endParaRPr lang="en-US" sz="2800" dirty="0"/>
          </a:p>
        </p:txBody>
      </p:sp>
      <p:pic>
        <p:nvPicPr>
          <p:cNvPr id="3" name="Image 0" descr="④ 모든 계통 AUTO — PHG D 덕트망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7955280" cy="447484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7955280" cy="4474845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087368" y="2987231"/>
            <a:ext cx="347472" cy="347472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389120" y="3288983"/>
            <a:ext cx="91440" cy="91440"/>
          </a:xfrm>
          <a:prstGeom prst="ellipse">
            <a:avLst/>
          </a:prstGeom>
          <a:solidFill>
            <a:srgbClr val="0F8B8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931920" y="2831783"/>
            <a:ext cx="310896" cy="310896"/>
          </a:xfrm>
          <a:prstGeom prst="ellipse">
            <a:avLst/>
          </a:prstGeom>
          <a:solidFill>
            <a:srgbClr val="0F8B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931920" y="283178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0" y="1115568"/>
            <a:ext cx="274320" cy="2743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0" y="1115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098280" y="10972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Deck·계통 16/16 완료, 164초. 공조기·팬에서 시작해 트렁크의 수직 덕트로 각 Deck에 연결.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269480" y="2763488"/>
            <a:ext cx="347472" cy="347472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571232" y="3065240"/>
            <a:ext cx="91440" cy="91440"/>
          </a:xfrm>
          <a:prstGeom prst="ellipse">
            <a:avLst/>
          </a:prstGeom>
          <a:solidFill>
            <a:srgbClr val="0F8B8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14032" y="2608040"/>
            <a:ext cx="310896" cy="310896"/>
          </a:xfrm>
          <a:prstGeom prst="ellipse">
            <a:avLst/>
          </a:prstGeom>
          <a:solidFill>
            <a:srgbClr val="0F8B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114032" y="2608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686800" y="1965960"/>
            <a:ext cx="274320" cy="2743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9098280" y="19476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계통 카드: 덕트 수·길이, Deck 최대 손실, 상태.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087368" y="4911414"/>
            <a:ext cx="347472" cy="347472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389120" y="5213166"/>
            <a:ext cx="91440" cy="91440"/>
          </a:xfrm>
          <a:prstGeom prst="ellipse">
            <a:avLst/>
          </a:prstGeom>
          <a:solidFill>
            <a:srgbClr val="0F8B8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931920" y="4755966"/>
            <a:ext cx="310896" cy="310896"/>
          </a:xfrm>
          <a:prstGeom prst="ellipse">
            <a:avLst/>
          </a:prstGeom>
          <a:solidFill>
            <a:srgbClr val="0F8B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931920" y="475596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686800" y="2587752"/>
            <a:ext cx="274320" cy="2743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686800" y="2587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9098280" y="256946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안 된 RU 0 · 선체 밖 덕트 0 m · 금지 영역 완화 1계획.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5645277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화면: HVAC Grid 실행 중 캡처 — 번호는 오른쪽 설명과 짝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검토 — Deck·계통 덕트망</a:t>
            </a:r>
            <a:endParaRPr lang="en-US" sz="2800" dirty="0"/>
          </a:p>
        </p:txBody>
      </p:sp>
      <p:pic>
        <p:nvPicPr>
          <p:cNvPr id="3" name="Image 0" descr="⑤ 검토 — Deck·계통 덕트망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7955280" cy="447484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7955280" cy="4474845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496312" y="1488157"/>
            <a:ext cx="347472" cy="347472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98064" y="1789909"/>
            <a:ext cx="91440" cy="91440"/>
          </a:xfrm>
          <a:prstGeom prst="ellipse">
            <a:avLst/>
          </a:prstGeom>
          <a:solidFill>
            <a:srgbClr val="0F8B8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340864" y="1332709"/>
            <a:ext cx="310896" cy="310896"/>
          </a:xfrm>
          <a:prstGeom prst="ellipse">
            <a:avLst/>
          </a:prstGeom>
          <a:solidFill>
            <a:srgbClr val="0F8B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340864" y="133270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0" y="1115568"/>
            <a:ext cx="274320" cy="2743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0" y="1115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098280" y="1097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결과: 통과 10 · 확인 5 · 실패 1.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087368" y="2763488"/>
            <a:ext cx="347472" cy="347472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89120" y="3065240"/>
            <a:ext cx="91440" cy="91440"/>
          </a:xfrm>
          <a:prstGeom prst="ellipse">
            <a:avLst/>
          </a:prstGeom>
          <a:solidFill>
            <a:srgbClr val="0F8B8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931920" y="2608040"/>
            <a:ext cx="310896" cy="310896"/>
          </a:xfrm>
          <a:prstGeom prst="ellipse">
            <a:avLst/>
          </a:prstGeom>
          <a:solidFill>
            <a:srgbClr val="0F8B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931920" y="2608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686800" y="1737360"/>
            <a:ext cx="274320" cy="2743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9098280" y="17190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Deck·계통마다 RU·덕트·길이·최대 손실과 AUTO 상태.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5645277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화면: HVAC Grid 실행 중 캡처 — 번호는 오른쪽 설명과 짝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검토 — 계통·수직 덕트</a:t>
            </a:r>
            <a:endParaRPr lang="en-US" sz="2800" dirty="0"/>
          </a:p>
        </p:txBody>
      </p:sp>
      <p:pic>
        <p:nvPicPr>
          <p:cNvPr id="3" name="Image 0" descr="⑤ 검토 — 계통·수직 덕트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7955280" cy="447484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7955280" cy="4474845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087368" y="2539746"/>
            <a:ext cx="347472" cy="347472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389120" y="2841498"/>
            <a:ext cx="91440" cy="91440"/>
          </a:xfrm>
          <a:prstGeom prst="ellipse">
            <a:avLst/>
          </a:prstGeom>
          <a:solidFill>
            <a:srgbClr val="0F8B8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931920" y="2384298"/>
            <a:ext cx="310896" cy="310896"/>
          </a:xfrm>
          <a:prstGeom prst="ellipse">
            <a:avLst/>
          </a:prstGeom>
          <a:solidFill>
            <a:srgbClr val="0F8B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931920" y="238429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0" y="1115568"/>
            <a:ext cx="274320" cy="2743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0" y="1115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098280" y="10972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계통별 팬 풍량, 덕트 외부 정압(ESP), 팬 정압과 Deck 사이 수직 덕트(크기·손실).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5645277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화면: HVAC Grid 실행 중 캡처 — 번호는 오른쪽 설명과 짝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계통도</a:t>
            </a:r>
            <a:endParaRPr lang="en-US" sz="2800" dirty="0"/>
          </a:p>
        </p:txBody>
      </p:sp>
      <p:pic>
        <p:nvPicPr>
          <p:cNvPr id="3" name="Image 0" descr="⑤ 계통도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7955280" cy="447484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7955280" cy="4474845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087368" y="2763488"/>
            <a:ext cx="347472" cy="347472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389120" y="3065240"/>
            <a:ext cx="91440" cy="91440"/>
          </a:xfrm>
          <a:prstGeom prst="ellipse">
            <a:avLst/>
          </a:prstGeom>
          <a:solidFill>
            <a:srgbClr val="0F8B8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931920" y="2608040"/>
            <a:ext cx="310896" cy="310896"/>
          </a:xfrm>
          <a:prstGeom prst="ellipse">
            <a:avLst/>
          </a:prstGeom>
          <a:solidFill>
            <a:srgbClr val="0F8B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931920" y="2608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0" y="1115568"/>
            <a:ext cx="274320" cy="2743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0" y="1115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098280" y="10972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계통마다 공조기·팬 → 수직 덕트 → 각 Deck 덕트망. 도면 없이 계통 구성을 한눈에.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5645277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화면: HVAC Grid 실행 중 캡처 — 번호는 오른쪽 설명과 짝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방화 (SOLAS II-2)</a:t>
            </a:r>
            <a:endParaRPr lang="en-US" sz="2800" dirty="0"/>
          </a:p>
        </p:txBody>
      </p:sp>
      <p:pic>
        <p:nvPicPr>
          <p:cNvPr id="3" name="Image 0" descr="⑤ 방화 (SOLAS II-2)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7955280" cy="447484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7955280" cy="4474845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496312" y="1823771"/>
            <a:ext cx="347472" cy="347472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98064" y="2125523"/>
            <a:ext cx="91440" cy="91440"/>
          </a:xfrm>
          <a:prstGeom prst="ellipse">
            <a:avLst/>
          </a:prstGeom>
          <a:solidFill>
            <a:srgbClr val="0F8B8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340864" y="1668323"/>
            <a:ext cx="310896" cy="310896"/>
          </a:xfrm>
          <a:prstGeom prst="ellipse">
            <a:avLst/>
          </a:prstGeom>
          <a:solidFill>
            <a:srgbClr val="0F8B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340864" y="166832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0" y="1115568"/>
            <a:ext cx="274320" cy="2743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0" y="1115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098280" y="1097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방화 경계 314개(등급별), 최하층 아래 = 기관실 A류.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91840" y="2360752"/>
            <a:ext cx="347472" cy="347472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93592" y="2662504"/>
            <a:ext cx="91440" cy="91440"/>
          </a:xfrm>
          <a:prstGeom prst="ellipse">
            <a:avLst/>
          </a:prstGeom>
          <a:solidFill>
            <a:srgbClr val="0F8B8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136392" y="2205304"/>
            <a:ext cx="310896" cy="310896"/>
          </a:xfrm>
          <a:prstGeom prst="ellipse">
            <a:avLst/>
          </a:prstGeom>
          <a:solidFill>
            <a:srgbClr val="0F8B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136392" y="2205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686800" y="1737360"/>
            <a:ext cx="274320" cy="2743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9098280" y="17190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 분류: 미분류 0개, 확인 항목.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291840" y="3434715"/>
            <a:ext cx="347472" cy="347472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593592" y="3736467"/>
            <a:ext cx="91440" cy="91440"/>
          </a:xfrm>
          <a:prstGeom prst="ellipse">
            <a:avLst/>
          </a:prstGeom>
          <a:solidFill>
            <a:srgbClr val="0F8B8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136392" y="3279267"/>
            <a:ext cx="310896" cy="310896"/>
          </a:xfrm>
          <a:prstGeom prst="ellipse">
            <a:avLst/>
          </a:prstGeom>
          <a:solidFill>
            <a:srgbClr val="0F8B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136392" y="327926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686800" y="2267712"/>
            <a:ext cx="274320" cy="2743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686800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9098280" y="22494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 구역 통과·SOLAS 점검표.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1700784" y="5000911"/>
            <a:ext cx="347472" cy="347472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002536" y="5302663"/>
            <a:ext cx="91440" cy="91440"/>
          </a:xfrm>
          <a:prstGeom prst="ellipse">
            <a:avLst/>
          </a:prstGeom>
          <a:solidFill>
            <a:srgbClr val="0F8B8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545336" y="4845463"/>
            <a:ext cx="310896" cy="310896"/>
          </a:xfrm>
          <a:prstGeom prst="ellipse">
            <a:avLst/>
          </a:prstGeom>
          <a:solidFill>
            <a:srgbClr val="0F8B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545336" y="484546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8686800" y="2798064"/>
            <a:ext cx="274320" cy="2743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86800" y="2798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9098280" y="2779776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덕트 관통 121곳, 자동 방화댐퍼 12개(A급 경계 · 0.075 m² 초과, II-2/9.7.3).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" y="5645277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화면: HVAC Grid 실행 중 캡처 — 번호는 오른쪽 설명과 짝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방화 등급도</a:t>
            </a:r>
            <a:endParaRPr lang="en-US" sz="2800" dirty="0"/>
          </a:p>
        </p:txBody>
      </p:sp>
      <p:pic>
        <p:nvPicPr>
          <p:cNvPr id="3" name="Image 0" descr="⑤ 방화 등급도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7955280" cy="447484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7955280" cy="4474845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087368" y="2987231"/>
            <a:ext cx="347472" cy="347472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389120" y="3288983"/>
            <a:ext cx="91440" cy="91440"/>
          </a:xfrm>
          <a:prstGeom prst="ellipse">
            <a:avLst/>
          </a:prstGeom>
          <a:solidFill>
            <a:srgbClr val="0F8B8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931920" y="2831783"/>
            <a:ext cx="310896" cy="310896"/>
          </a:xfrm>
          <a:prstGeom prst="ellipse">
            <a:avLst/>
          </a:prstGeom>
          <a:solidFill>
            <a:srgbClr val="0F8B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931920" y="283178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0" y="1115568"/>
            <a:ext cx="274320" cy="2743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0" y="1115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098280" y="10972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실마다 SOLAS 범주, 벽·갑판 등급(A-60·A-0·B-0 …), 방화댐퍼(FD)·슬리브(SL) 위치. DXF로도 출력.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5645277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화면: HVAC Grid 실행 중 캡처 — 번호는 오른쪽 설명과 짝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계통별 압력 — 덕트 외부 정압과 팬 정압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768096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412480" y="128016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ESP가 큰 계통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AHU-1: 459.8 Pa (11,370 CMH)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RA-1: 280.5 Pa (7,570 CMH)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EF-PAN: 191 Pa (550 CMH)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8412480" y="393192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ESP = Deck 덕트망 최대 손실 + 방화댐퍼 여유 + 수직 덕트. 팬 정압 = ESP + 공조기 내부·루버 손실(추정).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사항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291840" cy="1737360"/>
          </a:xfrm>
          <a:prstGeom prst="roundRect">
            <a:avLst>
              <a:gd name="adj" fmla="val 5263"/>
            </a:avLst>
          </a:prstGeom>
          <a:solidFill>
            <a:srgbClr val="E6F4EC"/>
          </a:solidFill>
          <a:ln w="12700">
            <a:solidFill>
              <a:srgbClr val="E6F4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8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94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이상 없음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10896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실패한 단계·페이지 오류·Deck id 노출이 없음. 아래는 규칙이 시험선의 배치·입력에서 잡은 설계 경고(정상 동작).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23360" y="1188720"/>
          <a:ext cx="77266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85800"/>
                <a:gridCol w="50292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전달 공기 출처 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308 청소도구실: 배기 150 CMH를 받을 급기 실이 이웃에 없음 — 외기 흡입구 또는 급기 필요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 통기구 &gt; 0.05 m²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230 의무실: 복도에서 전달 공기 530 CMH → 문 통기구 0.074 m² (&gt; 0.05 m², II-2/9.4.2) — 급기 추가 또는 덕트로 보충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부압 미확보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114 조리실: 급기 2910 &gt; 배기 2700 CMH — 부압 미확보 (배기 증가 또는 급기 제한)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6.4.1 배기 부족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115 배식실: 배기 550 CMH &lt; 병원(의무실)·배식실·흡연실 급기 × 1.2 600 CMH (ISO 7547 6.4.1) — 환기 횟수 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 신기 부족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240 취미실: 실 신기 140 CMH(급기 420 × 구역 신기 33.4 %) &lt; 최소 신기 173 CMH — 급기 530 CMH 이상 또는 AHU-1 신기 비율 42 …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판정: 이상 없음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60320"/>
            <a:ext cx="10515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DDE5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이상 없음 — 다음 정기 실행에서 다른 평면도로 다시 확인.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DDE5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확인 사항은 시험선 배치·입력에 따른 경고로, 프로그램 결함이 아님.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DDE5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내일: 20일 계획의 다음 외곽선·복도 형상.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파일: out/n3/20261025/ — summary.md · n3.report.html · n3.xlsx · n3.dxf · n3.project.json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N3 일일 시험 20261025</dc:title>
  <dc:subject>PptxGenJS Presentation</dc:subject>
  <dc:creator>HVAC Grid</dc:creator>
  <cp:lastModifiedBy>HVAC Grid</cp:lastModifiedBy>
  <cp:revision>1</cp:revision>
  <dcterms:created xsi:type="dcterms:W3CDTF">2026-10-25T00:08:53Z</dcterms:created>
  <dcterms:modified xsi:type="dcterms:W3CDTF">2026-10-25T00:08:53Z</dcterms:modified>
</cp:coreProperties>
</file>