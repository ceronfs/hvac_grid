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ESP (Pa)</c:v>
                </c:pt>
              </c:strCache>
            </c:strRef>
          </c:tx>
          <c:spPr>
            <a:solidFill>
              <a:srgbClr val="0F8B8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AHU-1</c:v>
                  </c:pt>
                  <c:pt idx="1">
                    <c:v>SF-GAL</c:v>
                  </c:pt>
                  <c:pt idx="2">
                    <c:v>EF-BAT</c:v>
                  </c:pt>
                  <c:pt idx="3">
                    <c:v>EF-CO2</c:v>
                  </c:pt>
                  <c:pt idx="4">
                    <c:v>EF-GAL</c:v>
                  </c:pt>
                  <c:pt idx="5">
                    <c:v>EF-HOS</c:v>
                  </c:pt>
                  <c:pt idx="6">
                    <c:v>EF-LAU</c:v>
                  </c:pt>
                  <c:pt idx="7">
                    <c:v>EF-PAN</c:v>
                  </c:pt>
                  <c:pt idx="8">
                    <c:v>EF-SAN</c:v>
                  </c:pt>
                  <c:pt idx="9">
                    <c:v>RA-1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305.3</c:v>
                </c:pt>
                <c:pt idx="1">
                  <c:v>111.1</c:v>
                </c:pt>
                <c:pt idx="2">
                  <c:v>31</c:v>
                </c:pt>
                <c:pt idx="3">
                  <c:v>11</c:v>
                </c:pt>
                <c:pt idx="4">
                  <c:v>100</c:v>
                </c:pt>
                <c:pt idx="5">
                  <c:v>60</c:v>
                </c:pt>
                <c:pt idx="6">
                  <c:v>97</c:v>
                </c:pt>
                <c:pt idx="7">
                  <c:v>148</c:v>
                </c:pt>
                <c:pt idx="8">
                  <c:v>91.3</c:v>
                </c:pt>
                <c:pt idx="9">
                  <c:v>299.8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팬 정압 추정 (Pa)</c:v>
                </c:pt>
              </c:strCache>
            </c:strRef>
          </c:tx>
          <c:spPr>
            <a:solidFill>
              <a:srgbClr val="A9B7C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Malgun Gothic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AHU-1</c:v>
                  </c:pt>
                  <c:pt idx="1">
                    <c:v>SF-GAL</c:v>
                  </c:pt>
                  <c:pt idx="2">
                    <c:v>EF-BAT</c:v>
                  </c:pt>
                  <c:pt idx="3">
                    <c:v>EF-CO2</c:v>
                  </c:pt>
                  <c:pt idx="4">
                    <c:v>EF-GAL</c:v>
                  </c:pt>
                  <c:pt idx="5">
                    <c:v>EF-HOS</c:v>
                  </c:pt>
                  <c:pt idx="6">
                    <c:v>EF-LAU</c:v>
                  </c:pt>
                  <c:pt idx="7">
                    <c:v>EF-PAN</c:v>
                  </c:pt>
                  <c:pt idx="8">
                    <c:v>EF-SAN</c:v>
                  </c:pt>
                  <c:pt idx="9">
                    <c:v>RA-1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955</c:v>
                </c:pt>
                <c:pt idx="1">
                  <c:v>761</c:v>
                </c:pt>
                <c:pt idx="2">
                  <c:v>181</c:v>
                </c:pt>
                <c:pt idx="3">
                  <c:v>161</c:v>
                </c:pt>
                <c:pt idx="4">
                  <c:v>250</c:v>
                </c:pt>
                <c:pt idx="5">
                  <c:v>210</c:v>
                </c:pt>
                <c:pt idx="6">
                  <c:v>247</c:v>
                </c:pt>
                <c:pt idx="7">
                  <c:v>298</c:v>
                </c:pt>
                <c:pt idx="8">
                  <c:v>241</c:v>
                </c:pt>
                <c:pt idx="9">
                  <c:v>450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Malgun Gothic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4B5C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1E6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B76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도면 3장(DXF)을 BOX로 열어 HVAC Grid를 처음부터 끝까지 돌린 결과입니다. 프로그램 이상은 실패한 단계·페이지 오류·Deck id 노출, 설계 확인 사항은 규칙이 시험선 배치와 입력에서 잡은 경고입니다.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계통 10개, 급기 합계 14520 CMH, 미완료 부하 0실.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도면 생성기(tools/make-test-ship3.cjs)가 그린 실 경계를 그대로 그렸습니다. 굵은 선이 Deck 외곽선(선체)입니다.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DXF 3장(1층 R12 한글)을 BOX로 열어 Deck 3개, 실 59개를 번호·이름까지 읽음. 빠진 실 0개.
도면: 벽은 LINE, 실 번호·이름은 TEXT. 선수 쪽 실은 선체선(외곽선)에 맞춰 잘려 있음.
Deck 목록에 이름·Z·높이를 입력하고, 외곽선 18변을 하부·상부 외곽선(OL)으로 지정.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격실 입력 표(BOX CAL)에 767칸을 붙여넣음(엑셀 붙여넣기와 같은 경로).
계통: SUP(급기)·EXH(배기)·RET(환기). 이것으로 Grid가 계통을 만듦.
온습도: 급기 있는 실 25 ℃/55 %, 급기 없는 실은 ISO 7547 표 1 차이.
인원·최소 신기·장비 발열·환기 횟수. ISO 구분은 비워 둠 → BOX가 실 이름으로 정함(ENGINE 3, ALLEY_SOUND 3, NON_AC 12, WHEELHOUSE 1).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모든 실 부하 계산 완료(미완료 0실). 이 값으로 설계 데이터 59실을 만듦.
- 계통 10개 · 급기 합계 14,520 CMH · 여러 Deck 계통: AHU-1, EF-SAN, RA-1.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풍량 규칙: 급기 ΔT 10 K, 가압 5 %, 최소 신기 25 %. 풍량 = 여름 냉방 현열 또는 최소 신기 중 큰 값.
계통 선택: 급기·배기·환기. 공조 구역 AHU-1 SA 11550 OA 4430 적합 / SF-GAL SA 2970 OA 2970 적합.
평면: 실마다 급기 풍량(CMH), 화장실로 가는 화살표는 전달 공기.
Deck 요약과 계통 카드. 난방으로 풍량을 정한 실 0개 — 겨울은 난방 용량으로.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"위치 지정"을 누르고 평면에서 실을 클릭.
의무실 배기(EF-HOS)는 그 Deck에 팬룸이 없어 린넨창고에 지정 — "assumed:corridor-end:202" → "user".
EF-HOS 팬 위치: 232 린넨창고 (CREW DK)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Deck·계통 16/16 완료, 254초. 공조기·팬에서 시작해 트렁크의 수직 덕트로 각 Deck에 연결.
계통 카드: 덕트 수·길이, Deck 최대 손실, 상태.
연결 안 된 RU 0 · 선체 밖 덕트 0 m · 금지 영역 완화 0계획.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검토 결과: 통과 12 · 확인 4 · 실패 0.
Deck·계통마다 RU·덕트·길이·최대 손실과 AUTO 상태.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계통별 팬 풍량, 덕트 외부 정압(ESP), 팬 정압과 Deck 사이 수직 덕트(크기·손실).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계통마다 공조기·팬 → 수직 덕트 → 각 Deck 덕트망. 도면 없이 계통 구성을 한눈에.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방화 경계 307개(등급별), 최하층 아래 = 기관실 A류.
실 분류: 미분류 0개, 확인 항목.
제한 구역 통과·SOLAS 점검표.
덕트 관통 132곳, 자동 방화댐퍼 10개(A급 경계 · 0.075 m² 초과, II-2/9.7.3).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실마다 SOLAS 범주, 벽·갑판 등급(A-60·A-0·B-0 …), 방화댐퍼(FD)·슬리브(SL) 위치. DXF로도 출력.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check · 풍량 · check TRANSFER_OUTSIDE 308 청소도구실: 배기 170 CMH를 받을 급기 실이 이웃에 없음 — 외기 흡입구 또는 급기 필요
check · 풍량 · check TRANSFER_OUTSIDE 208 청소도구실: 배기 170 CMH를 받을 급기 실이 이웃에 없음 — 외기 흡입구 또는 급기 필요
check · 풍량 · check TRANSFER_OUTSIDE 108 청소도구실: 배기 170 CMH를 받을 급기 실이 이웃에 없음 — 외기 흡입구 또는 급기 필요
check · 풍량 · check DOOR_GRILLE 114 조리실: 복도에서 전달 공기 810 CMH → 문 통기구 0.113 m² (&gt; 0.05 m², II-2/9.4.2) — 급기 추가 또는 덕트로 보충
check · 풍량 · check ROOM_OA 240 취미실: 실 신기 200 CMH(급기 520 × 구역 신기 38.4 %) &lt; 최소 신기 259 CMH — 급기 690 CMH 이상 또는 AHU-1 신기 비율 50 % 이상
check · 풍량 · check ROOM_OA 121 선원식당: 실 신기 330 CMH(급기 860 × 구역 신기 38.4 %) &lt; 최소 신기 547 CMH — 급기 1510 CMH 이상 또는 AHU-1 신기 비율 64 % 이상
check · 풍량 · check ROOM_OA 122 사관식당: 실 신기 280 CMH(급기 730 × 구역 신기 38.4 %) &lt; 최소 신기 432 CMH — 급기 1170 CMH 이상 또는 AHU-1 신기 비율 60 % 이상
check · 풍량 · check TRANSFER_A 114 조리실: 102 복도에서 전달 공기 810 CMH가 A-0 경계를 지남 — 방화댐퍼 붙은 전달 덕트 또는 출처 변경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B2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N3 일일 시험 · 20261024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N3 일일 시험 보고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23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20261024 · 20일 계획 2일째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971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6E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× 14 m · 3층 · 59실 · 모따기 선수 · 3층 3 m 짧음 · 한쪽으로 치우친 복도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" y="4023360"/>
            <a:ext cx="2377440" cy="1005840"/>
          </a:xfrm>
          <a:prstGeom prst="roundRect">
            <a:avLst>
              <a:gd name="adj" fmla="val 10909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02336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4251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이상 0건 · 설계 확인 사항 8건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2026-10-24 00:05 UTC · HVAC Grid → BOX CAL → PHG D, DXF 도면부터 출력까지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보기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554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251960" y="12801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26280" y="1554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2628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이상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046720" y="128016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1040" y="15544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16/16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606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AUTO 완료 (Deck·계통)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36118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F8B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132 · 10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 관통 · 방화댐퍼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251960" y="36118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26280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52628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확인 사항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46720" y="3611880"/>
            <a:ext cx="3566160" cy="2057400"/>
          </a:xfrm>
          <a:prstGeom prst="roundRect">
            <a:avLst>
              <a:gd name="adj" fmla="val 4444"/>
            </a:avLst>
          </a:prstGeom>
          <a:solidFill>
            <a:srgbClr val="EEF2F5"/>
          </a:solidFill>
          <a:ln w="12700">
            <a:solidFill>
              <a:srgbClr val="EEF2F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321040" y="38862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286 s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937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소요 시간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× 14 m · 3층 · 59실 · 모따기 선수 · 3층 3 m 짧음 · 한쪽으로 치우친 복도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평면도 — 3개 Deck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DK · Z 0 mm</a:t>
            </a:r>
            <a:endParaRPr lang="en-US" sz="1200" dirty="0"/>
          </a:p>
        </p:txBody>
      </p:sp>
      <p:sp>
        <p:nvSpPr>
          <p:cNvPr id="4" name="D1 101"/>
          <p:cNvSpPr/>
          <p:nvPr/>
        </p:nvSpPr>
        <p:spPr>
          <a:xfrm>
            <a:off x="457200" y="3059084"/>
            <a:ext cx="567344" cy="810491"/>
          </a:xfrm>
          <a:custGeom>
            <a:avLst/>
            <a:gdLst/>
            <a:ahLst/>
            <a:cxnLst/>
            <a:rect l="l" t="t" r="r" b="b"/>
            <a:pathLst>
              <a:path w="567344" h="810491">
                <a:moveTo>
                  <a:pt x="0" y="810491"/>
                </a:moveTo>
                <a:lnTo>
                  <a:pt x="567344" y="810491"/>
                </a:lnTo>
                <a:lnTo>
                  <a:pt x="567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57992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101</a:t>
            </a:r>
            <a:endParaRPr lang="en-US" sz="700" dirty="0"/>
          </a:p>
        </p:txBody>
      </p:sp>
      <p:sp>
        <p:nvSpPr>
          <p:cNvPr id="6" name="D1 102"/>
          <p:cNvSpPr/>
          <p:nvPr/>
        </p:nvSpPr>
        <p:spPr>
          <a:xfrm>
            <a:off x="457200" y="2734887"/>
            <a:ext cx="3566160" cy="324196"/>
          </a:xfrm>
          <a:custGeom>
            <a:avLst/>
            <a:gdLst/>
            <a:ahLst/>
            <a:cxnLst/>
            <a:rect l="l" t="t" r="r" b="b"/>
            <a:pathLst>
              <a:path w="3566160" h="324196">
                <a:moveTo>
                  <a:pt x="0" y="324196"/>
                </a:moveTo>
                <a:lnTo>
                  <a:pt x="3566160" y="324196"/>
                </a:lnTo>
                <a:lnTo>
                  <a:pt x="3566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E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57400" y="2823833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102</a:t>
            </a:r>
            <a:endParaRPr lang="en-US" sz="700" dirty="0"/>
          </a:p>
        </p:txBody>
      </p:sp>
      <p:sp>
        <p:nvSpPr>
          <p:cNvPr id="8" name="D1 103"/>
          <p:cNvSpPr/>
          <p:nvPr/>
        </p:nvSpPr>
        <p:spPr>
          <a:xfrm>
            <a:off x="1024544" y="2248593"/>
            <a:ext cx="405245" cy="486295"/>
          </a:xfrm>
          <a:custGeom>
            <a:avLst/>
            <a:gdLst/>
            <a:ahLst/>
            <a:cxnLst/>
            <a:rect l="l" t="t" r="r" b="b"/>
            <a:pathLst>
              <a:path w="405245" h="486295">
                <a:moveTo>
                  <a:pt x="0" y="486295"/>
                </a:moveTo>
                <a:lnTo>
                  <a:pt x="405245" y="486295"/>
                </a:lnTo>
                <a:lnTo>
                  <a:pt x="405245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044286" y="24185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103</a:t>
            </a:r>
            <a:endParaRPr lang="en-US" sz="700" dirty="0"/>
          </a:p>
        </p:txBody>
      </p:sp>
      <p:sp>
        <p:nvSpPr>
          <p:cNvPr id="10" name="D1 105"/>
          <p:cNvSpPr/>
          <p:nvPr/>
        </p:nvSpPr>
        <p:spPr>
          <a:xfrm>
            <a:off x="457200" y="2410691"/>
            <a:ext cx="243147" cy="324196"/>
          </a:xfrm>
          <a:custGeom>
            <a:avLst/>
            <a:gdLst/>
            <a:ahLst/>
            <a:cxnLst/>
            <a:rect l="l" t="t" r="r" b="b"/>
            <a:pathLst>
              <a:path w="243147" h="324196">
                <a:moveTo>
                  <a:pt x="0" y="324196"/>
                </a:moveTo>
                <a:lnTo>
                  <a:pt x="243147" y="324196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1" name="D1 104"/>
          <p:cNvSpPr/>
          <p:nvPr/>
        </p:nvSpPr>
        <p:spPr>
          <a:xfrm>
            <a:off x="700347" y="2491740"/>
            <a:ext cx="324196" cy="243147"/>
          </a:xfrm>
          <a:custGeom>
            <a:avLst/>
            <a:gdLst/>
            <a:ahLst/>
            <a:cxnLst/>
            <a:rect l="l" t="t" r="r" b="b"/>
            <a:pathLst>
              <a:path w="324196" h="243147">
                <a:moveTo>
                  <a:pt x="0" y="243147"/>
                </a:moveTo>
                <a:lnTo>
                  <a:pt x="324196" y="243147"/>
                </a:lnTo>
                <a:lnTo>
                  <a:pt x="32419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9565" y="254016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104</a:t>
            </a:r>
            <a:endParaRPr lang="en-US" sz="700" dirty="0"/>
          </a:p>
        </p:txBody>
      </p:sp>
      <p:sp>
        <p:nvSpPr>
          <p:cNvPr id="13" name="D1 108"/>
          <p:cNvSpPr/>
          <p:nvPr/>
        </p:nvSpPr>
        <p:spPr>
          <a:xfrm>
            <a:off x="457200" y="1600200"/>
            <a:ext cx="243147" cy="810491"/>
          </a:xfrm>
          <a:custGeom>
            <a:avLst/>
            <a:gdLst/>
            <a:ahLst/>
            <a:cxnLst/>
            <a:rect l="l" t="t" r="r" b="b"/>
            <a:pathLst>
              <a:path w="243147" h="810491">
                <a:moveTo>
                  <a:pt x="0" y="810491"/>
                </a:moveTo>
                <a:lnTo>
                  <a:pt x="243147" y="810491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4" name="D1 106"/>
          <p:cNvSpPr/>
          <p:nvPr/>
        </p:nvSpPr>
        <p:spPr>
          <a:xfrm>
            <a:off x="700347" y="1600200"/>
            <a:ext cx="324196" cy="891540"/>
          </a:xfrm>
          <a:custGeom>
            <a:avLst/>
            <a:gdLst/>
            <a:ahLst/>
            <a:cxnLst/>
            <a:rect l="l" t="t" r="r" b="b"/>
            <a:pathLst>
              <a:path w="324196" h="891540">
                <a:moveTo>
                  <a:pt x="0" y="891540"/>
                </a:moveTo>
                <a:lnTo>
                  <a:pt x="324196" y="891540"/>
                </a:lnTo>
                <a:lnTo>
                  <a:pt x="32419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9565" y="197281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106</a:t>
            </a:r>
            <a:endParaRPr lang="en-US" sz="700" dirty="0"/>
          </a:p>
        </p:txBody>
      </p:sp>
      <p:sp>
        <p:nvSpPr>
          <p:cNvPr id="16" name="D1 107"/>
          <p:cNvSpPr/>
          <p:nvPr/>
        </p:nvSpPr>
        <p:spPr>
          <a:xfrm>
            <a:off x="1024544" y="1600200"/>
            <a:ext cx="405245" cy="648393"/>
          </a:xfrm>
          <a:custGeom>
            <a:avLst/>
            <a:gdLst/>
            <a:ahLst/>
            <a:cxnLst/>
            <a:rect l="l" t="t" r="r" b="b"/>
            <a:pathLst>
              <a:path w="405245" h="648393">
                <a:moveTo>
                  <a:pt x="0" y="648393"/>
                </a:moveTo>
                <a:lnTo>
                  <a:pt x="405245" y="648393"/>
                </a:lnTo>
                <a:lnTo>
                  <a:pt x="405245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44286" y="18512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107</a:t>
            </a:r>
            <a:endParaRPr lang="en-US" sz="700" dirty="0"/>
          </a:p>
        </p:txBody>
      </p:sp>
      <p:sp>
        <p:nvSpPr>
          <p:cNvPr id="18" name="D1 111"/>
          <p:cNvSpPr/>
          <p:nvPr/>
        </p:nvSpPr>
        <p:spPr>
          <a:xfrm>
            <a:off x="1024544" y="3464329"/>
            <a:ext cx="405245" cy="405245"/>
          </a:xfrm>
          <a:custGeom>
            <a:avLst/>
            <a:gdLst/>
            <a:ahLst/>
            <a:cxnLst/>
            <a:rect l="l" t="t" r="r" b="b"/>
            <a:pathLst>
              <a:path w="405245" h="405245">
                <a:moveTo>
                  <a:pt x="0" y="405245"/>
                </a:moveTo>
                <a:lnTo>
                  <a:pt x="405245" y="405245"/>
                </a:lnTo>
                <a:lnTo>
                  <a:pt x="405245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44286" y="359380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111</a:t>
            </a:r>
            <a:endParaRPr lang="en-US" sz="700" dirty="0"/>
          </a:p>
        </p:txBody>
      </p:sp>
      <p:sp>
        <p:nvSpPr>
          <p:cNvPr id="20" name="D1 112"/>
          <p:cNvSpPr/>
          <p:nvPr/>
        </p:nvSpPr>
        <p:spPr>
          <a:xfrm>
            <a:off x="1024544" y="3059084"/>
            <a:ext cx="405245" cy="405245"/>
          </a:xfrm>
          <a:custGeom>
            <a:avLst/>
            <a:gdLst/>
            <a:ahLst/>
            <a:cxnLst/>
            <a:rect l="l" t="t" r="r" b="b"/>
            <a:pathLst>
              <a:path w="405245" h="405245">
                <a:moveTo>
                  <a:pt x="0" y="405245"/>
                </a:moveTo>
                <a:lnTo>
                  <a:pt x="405245" y="405245"/>
                </a:lnTo>
                <a:lnTo>
                  <a:pt x="405245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044286" y="318855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</a:t>
            </a:r>
            <a:endParaRPr lang="en-US" sz="700" dirty="0"/>
          </a:p>
        </p:txBody>
      </p:sp>
      <p:sp>
        <p:nvSpPr>
          <p:cNvPr id="22" name="D1 113"/>
          <p:cNvSpPr/>
          <p:nvPr/>
        </p:nvSpPr>
        <p:spPr>
          <a:xfrm>
            <a:off x="1429789" y="3059084"/>
            <a:ext cx="486295" cy="810491"/>
          </a:xfrm>
          <a:custGeom>
            <a:avLst/>
            <a:gdLst/>
            <a:ahLst/>
            <a:cxnLst/>
            <a:rect l="l" t="t" r="r" b="b"/>
            <a:pathLst>
              <a:path w="486295" h="810491">
                <a:moveTo>
                  <a:pt x="0" y="810491"/>
                </a:moveTo>
                <a:lnTo>
                  <a:pt x="486295" y="810491"/>
                </a:lnTo>
                <a:lnTo>
                  <a:pt x="4862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490056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113</a:t>
            </a:r>
            <a:endParaRPr lang="en-US" sz="700" dirty="0"/>
          </a:p>
        </p:txBody>
      </p:sp>
      <p:sp>
        <p:nvSpPr>
          <p:cNvPr id="24" name="D1 124"/>
          <p:cNvSpPr/>
          <p:nvPr/>
        </p:nvSpPr>
        <p:spPr>
          <a:xfrm>
            <a:off x="1429789" y="1600200"/>
            <a:ext cx="486295" cy="1134687"/>
          </a:xfrm>
          <a:custGeom>
            <a:avLst/>
            <a:gdLst/>
            <a:ahLst/>
            <a:cxnLst/>
            <a:rect l="l" t="t" r="r" b="b"/>
            <a:pathLst>
              <a:path w="486295" h="1134687">
                <a:moveTo>
                  <a:pt x="0" y="1134687"/>
                </a:moveTo>
                <a:lnTo>
                  <a:pt x="486295" y="1134687"/>
                </a:lnTo>
                <a:lnTo>
                  <a:pt x="486295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90056" y="2094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124</a:t>
            </a:r>
            <a:endParaRPr lang="en-US" sz="700" dirty="0"/>
          </a:p>
        </p:txBody>
      </p:sp>
      <p:sp>
        <p:nvSpPr>
          <p:cNvPr id="26" name="D1 114"/>
          <p:cNvSpPr/>
          <p:nvPr/>
        </p:nvSpPr>
        <p:spPr>
          <a:xfrm>
            <a:off x="1916084" y="1600200"/>
            <a:ext cx="729442" cy="1134687"/>
          </a:xfrm>
          <a:custGeom>
            <a:avLst/>
            <a:gdLst/>
            <a:ahLst/>
            <a:cxnLst/>
            <a:rect l="l" t="t" r="r" b="b"/>
            <a:pathLst>
              <a:path w="729442" h="1134687">
                <a:moveTo>
                  <a:pt x="0" y="1134687"/>
                </a:moveTo>
                <a:lnTo>
                  <a:pt x="729442" y="1134687"/>
                </a:lnTo>
                <a:lnTo>
                  <a:pt x="7294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8D9B5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097925" y="2094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114</a:t>
            </a:r>
            <a:endParaRPr lang="en-US" sz="700" dirty="0"/>
          </a:p>
        </p:txBody>
      </p:sp>
      <p:sp>
        <p:nvSpPr>
          <p:cNvPr id="28" name="D1 115"/>
          <p:cNvSpPr/>
          <p:nvPr/>
        </p:nvSpPr>
        <p:spPr>
          <a:xfrm>
            <a:off x="2645525" y="1600200"/>
            <a:ext cx="324196" cy="1134687"/>
          </a:xfrm>
          <a:custGeom>
            <a:avLst/>
            <a:gdLst/>
            <a:ahLst/>
            <a:cxnLst/>
            <a:rect l="l" t="t" r="r" b="b"/>
            <a:pathLst>
              <a:path w="324196" h="1134687">
                <a:moveTo>
                  <a:pt x="0" y="1134687"/>
                </a:moveTo>
                <a:lnTo>
                  <a:pt x="324196" y="1134687"/>
                </a:lnTo>
                <a:lnTo>
                  <a:pt x="324196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624744" y="2094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115</a:t>
            </a:r>
            <a:endParaRPr lang="en-US" sz="700" dirty="0"/>
          </a:p>
        </p:txBody>
      </p:sp>
      <p:sp>
        <p:nvSpPr>
          <p:cNvPr id="30" name="D1 116"/>
          <p:cNvSpPr/>
          <p:nvPr/>
        </p:nvSpPr>
        <p:spPr>
          <a:xfrm>
            <a:off x="2969722" y="1600200"/>
            <a:ext cx="567344" cy="1134687"/>
          </a:xfrm>
          <a:custGeom>
            <a:avLst/>
            <a:gdLst/>
            <a:ahLst/>
            <a:cxnLst/>
            <a:rect l="l" t="t" r="r" b="b"/>
            <a:pathLst>
              <a:path w="567344" h="1134687">
                <a:moveTo>
                  <a:pt x="0" y="1134687"/>
                </a:moveTo>
                <a:lnTo>
                  <a:pt x="567344" y="1134687"/>
                </a:lnTo>
                <a:lnTo>
                  <a:pt x="567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070514" y="2094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116</a:t>
            </a:r>
            <a:endParaRPr lang="en-US" sz="700" dirty="0"/>
          </a:p>
        </p:txBody>
      </p:sp>
      <p:sp>
        <p:nvSpPr>
          <p:cNvPr id="32" name="D1 117"/>
          <p:cNvSpPr/>
          <p:nvPr/>
        </p:nvSpPr>
        <p:spPr>
          <a:xfrm>
            <a:off x="3537065" y="1600200"/>
            <a:ext cx="486295" cy="1134687"/>
          </a:xfrm>
          <a:custGeom>
            <a:avLst/>
            <a:gdLst/>
            <a:ahLst/>
            <a:cxnLst/>
            <a:rect l="l" t="t" r="r" b="b"/>
            <a:pathLst>
              <a:path w="486295" h="1134687">
                <a:moveTo>
                  <a:pt x="0" y="1134687"/>
                </a:moveTo>
                <a:lnTo>
                  <a:pt x="486295" y="1134687"/>
                </a:lnTo>
                <a:lnTo>
                  <a:pt x="486295" y="324196"/>
                </a:lnTo>
                <a:lnTo>
                  <a:pt x="162098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81123" y="204576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117</a:t>
            </a:r>
            <a:endParaRPr lang="en-US" sz="700" dirty="0"/>
          </a:p>
        </p:txBody>
      </p:sp>
      <p:sp>
        <p:nvSpPr>
          <p:cNvPr id="34" name="D1 121"/>
          <p:cNvSpPr/>
          <p:nvPr/>
        </p:nvSpPr>
        <p:spPr>
          <a:xfrm>
            <a:off x="1916084" y="3059084"/>
            <a:ext cx="891540" cy="810491"/>
          </a:xfrm>
          <a:custGeom>
            <a:avLst/>
            <a:gdLst/>
            <a:ahLst/>
            <a:cxnLst/>
            <a:rect l="l" t="t" r="r" b="b"/>
            <a:pathLst>
              <a:path w="891540" h="810491">
                <a:moveTo>
                  <a:pt x="0" y="810491"/>
                </a:moveTo>
                <a:lnTo>
                  <a:pt x="891540" y="810491"/>
                </a:lnTo>
                <a:lnTo>
                  <a:pt x="891540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178974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121</a:t>
            </a:r>
            <a:endParaRPr lang="en-US" sz="700" dirty="0"/>
          </a:p>
        </p:txBody>
      </p:sp>
      <p:sp>
        <p:nvSpPr>
          <p:cNvPr id="36" name="D1 122"/>
          <p:cNvSpPr/>
          <p:nvPr/>
        </p:nvSpPr>
        <p:spPr>
          <a:xfrm>
            <a:off x="2807624" y="3059084"/>
            <a:ext cx="729442" cy="810491"/>
          </a:xfrm>
          <a:custGeom>
            <a:avLst/>
            <a:gdLst/>
            <a:ahLst/>
            <a:cxnLst/>
            <a:rect l="l" t="t" r="r" b="b"/>
            <a:pathLst>
              <a:path w="729442" h="810491">
                <a:moveTo>
                  <a:pt x="0" y="810491"/>
                </a:moveTo>
                <a:lnTo>
                  <a:pt x="729442" y="810491"/>
                </a:lnTo>
                <a:lnTo>
                  <a:pt x="729442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989465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122</a:t>
            </a:r>
            <a:endParaRPr lang="en-US" sz="700" dirty="0"/>
          </a:p>
        </p:txBody>
      </p:sp>
      <p:sp>
        <p:nvSpPr>
          <p:cNvPr id="38" name="D1 123"/>
          <p:cNvSpPr/>
          <p:nvPr/>
        </p:nvSpPr>
        <p:spPr>
          <a:xfrm>
            <a:off x="3537065" y="3059084"/>
            <a:ext cx="486295" cy="810491"/>
          </a:xfrm>
          <a:custGeom>
            <a:avLst/>
            <a:gdLst/>
            <a:ahLst/>
            <a:cxnLst/>
            <a:rect l="l" t="t" r="r" b="b"/>
            <a:pathLst>
              <a:path w="486295" h="810491">
                <a:moveTo>
                  <a:pt x="0" y="810491"/>
                </a:moveTo>
                <a:lnTo>
                  <a:pt x="162098" y="810491"/>
                </a:lnTo>
                <a:lnTo>
                  <a:pt x="486295" y="486295"/>
                </a:lnTo>
                <a:lnTo>
                  <a:pt x="4862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581123" y="340738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123</a:t>
            </a:r>
            <a:endParaRPr lang="en-US" sz="700" dirty="0"/>
          </a:p>
        </p:txBody>
      </p:sp>
      <p:sp>
        <p:nvSpPr>
          <p:cNvPr id="40" name="D1 outline"/>
          <p:cNvSpPr/>
          <p:nvPr/>
        </p:nvSpPr>
        <p:spPr>
          <a:xfrm>
            <a:off x="457200" y="1600200"/>
            <a:ext cx="3566160" cy="2269375"/>
          </a:xfrm>
          <a:custGeom>
            <a:avLst/>
            <a:gdLst/>
            <a:ahLst/>
            <a:cxnLst/>
            <a:rect l="l" t="t" r="r" b="b"/>
            <a:pathLst>
              <a:path w="3566160" h="2269375">
                <a:moveTo>
                  <a:pt x="0" y="2269375"/>
                </a:moveTo>
                <a:lnTo>
                  <a:pt x="3241964" y="2269375"/>
                </a:lnTo>
                <a:lnTo>
                  <a:pt x="3566160" y="1945178"/>
                </a:lnTo>
                <a:lnTo>
                  <a:pt x="3566160" y="324196"/>
                </a:lnTo>
                <a:lnTo>
                  <a:pt x="3241964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1B2A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29768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CREW DK · Z 2900 mm</a:t>
            </a:r>
            <a:endParaRPr lang="en-US" sz="1200" dirty="0"/>
          </a:p>
        </p:txBody>
      </p:sp>
      <p:sp>
        <p:nvSpPr>
          <p:cNvPr id="42" name="D2 201"/>
          <p:cNvSpPr/>
          <p:nvPr/>
        </p:nvSpPr>
        <p:spPr>
          <a:xfrm>
            <a:off x="4297680" y="3059084"/>
            <a:ext cx="567344" cy="810491"/>
          </a:xfrm>
          <a:custGeom>
            <a:avLst/>
            <a:gdLst/>
            <a:ahLst/>
            <a:cxnLst/>
            <a:rect l="l" t="t" r="r" b="b"/>
            <a:pathLst>
              <a:path w="567344" h="810491">
                <a:moveTo>
                  <a:pt x="0" y="810491"/>
                </a:moveTo>
                <a:lnTo>
                  <a:pt x="567344" y="810491"/>
                </a:lnTo>
                <a:lnTo>
                  <a:pt x="567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398472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</a:t>
            </a:r>
            <a:endParaRPr lang="en-US" sz="700" dirty="0"/>
          </a:p>
        </p:txBody>
      </p:sp>
      <p:sp>
        <p:nvSpPr>
          <p:cNvPr id="44" name="D2 202"/>
          <p:cNvSpPr/>
          <p:nvPr/>
        </p:nvSpPr>
        <p:spPr>
          <a:xfrm>
            <a:off x="4297680" y="2734887"/>
            <a:ext cx="3566160" cy="324196"/>
          </a:xfrm>
          <a:custGeom>
            <a:avLst/>
            <a:gdLst/>
            <a:ahLst/>
            <a:cxnLst/>
            <a:rect l="l" t="t" r="r" b="b"/>
            <a:pathLst>
              <a:path w="3566160" h="324196">
                <a:moveTo>
                  <a:pt x="0" y="324196"/>
                </a:moveTo>
                <a:lnTo>
                  <a:pt x="3566160" y="324196"/>
                </a:lnTo>
                <a:lnTo>
                  <a:pt x="3566160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E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897880" y="2823833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</a:t>
            </a:r>
            <a:endParaRPr lang="en-US" sz="700" dirty="0"/>
          </a:p>
        </p:txBody>
      </p:sp>
      <p:sp>
        <p:nvSpPr>
          <p:cNvPr id="46" name="D2 203"/>
          <p:cNvSpPr/>
          <p:nvPr/>
        </p:nvSpPr>
        <p:spPr>
          <a:xfrm>
            <a:off x="4865024" y="2248593"/>
            <a:ext cx="405245" cy="486295"/>
          </a:xfrm>
          <a:custGeom>
            <a:avLst/>
            <a:gdLst/>
            <a:ahLst/>
            <a:cxnLst/>
            <a:rect l="l" t="t" r="r" b="b"/>
            <a:pathLst>
              <a:path w="405245" h="486295">
                <a:moveTo>
                  <a:pt x="0" y="486295"/>
                </a:moveTo>
                <a:lnTo>
                  <a:pt x="405245" y="486295"/>
                </a:lnTo>
                <a:lnTo>
                  <a:pt x="405245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4884766" y="24185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</a:t>
            </a:r>
            <a:endParaRPr lang="en-US" sz="700" dirty="0"/>
          </a:p>
        </p:txBody>
      </p:sp>
      <p:sp>
        <p:nvSpPr>
          <p:cNvPr id="48" name="D2 205"/>
          <p:cNvSpPr/>
          <p:nvPr/>
        </p:nvSpPr>
        <p:spPr>
          <a:xfrm>
            <a:off x="4297680" y="2410691"/>
            <a:ext cx="243147" cy="324196"/>
          </a:xfrm>
          <a:custGeom>
            <a:avLst/>
            <a:gdLst/>
            <a:ahLst/>
            <a:cxnLst/>
            <a:rect l="l" t="t" r="r" b="b"/>
            <a:pathLst>
              <a:path w="243147" h="324196">
                <a:moveTo>
                  <a:pt x="0" y="324196"/>
                </a:moveTo>
                <a:lnTo>
                  <a:pt x="243147" y="324196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49" name="D2 204"/>
          <p:cNvSpPr/>
          <p:nvPr/>
        </p:nvSpPr>
        <p:spPr>
          <a:xfrm>
            <a:off x="4540827" y="2491740"/>
            <a:ext cx="324196" cy="243147"/>
          </a:xfrm>
          <a:custGeom>
            <a:avLst/>
            <a:gdLst/>
            <a:ahLst/>
            <a:cxnLst/>
            <a:rect l="l" t="t" r="r" b="b"/>
            <a:pathLst>
              <a:path w="324196" h="243147">
                <a:moveTo>
                  <a:pt x="0" y="243147"/>
                </a:moveTo>
                <a:lnTo>
                  <a:pt x="324196" y="243147"/>
                </a:lnTo>
                <a:lnTo>
                  <a:pt x="32419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4520045" y="254016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204</a:t>
            </a:r>
            <a:endParaRPr lang="en-US" sz="700" dirty="0"/>
          </a:p>
        </p:txBody>
      </p:sp>
      <p:sp>
        <p:nvSpPr>
          <p:cNvPr id="51" name="D2 208"/>
          <p:cNvSpPr/>
          <p:nvPr/>
        </p:nvSpPr>
        <p:spPr>
          <a:xfrm>
            <a:off x="4297680" y="1600200"/>
            <a:ext cx="243147" cy="810491"/>
          </a:xfrm>
          <a:custGeom>
            <a:avLst/>
            <a:gdLst/>
            <a:ahLst/>
            <a:cxnLst/>
            <a:rect l="l" t="t" r="r" b="b"/>
            <a:pathLst>
              <a:path w="243147" h="810491">
                <a:moveTo>
                  <a:pt x="0" y="810491"/>
                </a:moveTo>
                <a:lnTo>
                  <a:pt x="243147" y="810491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2" name="D2 206"/>
          <p:cNvSpPr/>
          <p:nvPr/>
        </p:nvSpPr>
        <p:spPr>
          <a:xfrm>
            <a:off x="4540827" y="1600200"/>
            <a:ext cx="324196" cy="891540"/>
          </a:xfrm>
          <a:custGeom>
            <a:avLst/>
            <a:gdLst/>
            <a:ahLst/>
            <a:cxnLst/>
            <a:rect l="l" t="t" r="r" b="b"/>
            <a:pathLst>
              <a:path w="324196" h="891540">
                <a:moveTo>
                  <a:pt x="0" y="891540"/>
                </a:moveTo>
                <a:lnTo>
                  <a:pt x="324196" y="891540"/>
                </a:lnTo>
                <a:lnTo>
                  <a:pt x="32419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20045" y="197281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206</a:t>
            </a:r>
            <a:endParaRPr lang="en-US" sz="700" dirty="0"/>
          </a:p>
        </p:txBody>
      </p:sp>
      <p:sp>
        <p:nvSpPr>
          <p:cNvPr id="54" name="D2 207"/>
          <p:cNvSpPr/>
          <p:nvPr/>
        </p:nvSpPr>
        <p:spPr>
          <a:xfrm>
            <a:off x="4865024" y="1600200"/>
            <a:ext cx="405245" cy="648393"/>
          </a:xfrm>
          <a:custGeom>
            <a:avLst/>
            <a:gdLst/>
            <a:ahLst/>
            <a:cxnLst/>
            <a:rect l="l" t="t" r="r" b="b"/>
            <a:pathLst>
              <a:path w="405245" h="648393">
                <a:moveTo>
                  <a:pt x="0" y="648393"/>
                </a:moveTo>
                <a:lnTo>
                  <a:pt x="405245" y="648393"/>
                </a:lnTo>
                <a:lnTo>
                  <a:pt x="405245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4884766" y="18512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207</a:t>
            </a:r>
            <a:endParaRPr lang="en-US" sz="700" dirty="0"/>
          </a:p>
        </p:txBody>
      </p:sp>
      <p:sp>
        <p:nvSpPr>
          <p:cNvPr id="56" name="D2 210"/>
          <p:cNvSpPr/>
          <p:nvPr/>
        </p:nvSpPr>
        <p:spPr>
          <a:xfrm>
            <a:off x="4865024" y="3059084"/>
            <a:ext cx="567344" cy="810491"/>
          </a:xfrm>
          <a:custGeom>
            <a:avLst/>
            <a:gdLst/>
            <a:ahLst/>
            <a:cxnLst/>
            <a:rect l="l" t="t" r="r" b="b"/>
            <a:pathLst>
              <a:path w="567344" h="810491">
                <a:moveTo>
                  <a:pt x="0" y="810491"/>
                </a:moveTo>
                <a:lnTo>
                  <a:pt x="567344" y="810491"/>
                </a:lnTo>
                <a:lnTo>
                  <a:pt x="567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4965815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</a:t>
            </a:r>
            <a:endParaRPr lang="en-US" sz="700" dirty="0"/>
          </a:p>
        </p:txBody>
      </p:sp>
      <p:sp>
        <p:nvSpPr>
          <p:cNvPr id="58" name="D2 230"/>
          <p:cNvSpPr/>
          <p:nvPr/>
        </p:nvSpPr>
        <p:spPr>
          <a:xfrm>
            <a:off x="5432367" y="3059084"/>
            <a:ext cx="567344" cy="810491"/>
          </a:xfrm>
          <a:custGeom>
            <a:avLst/>
            <a:gdLst/>
            <a:ahLst/>
            <a:cxnLst/>
            <a:rect l="l" t="t" r="r" b="b"/>
            <a:pathLst>
              <a:path w="567344" h="810491">
                <a:moveTo>
                  <a:pt x="0" y="810491"/>
                </a:moveTo>
                <a:lnTo>
                  <a:pt x="567344" y="810491"/>
                </a:lnTo>
                <a:lnTo>
                  <a:pt x="567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533159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</a:t>
            </a:r>
            <a:endParaRPr lang="en-US" sz="700" dirty="0"/>
          </a:p>
        </p:txBody>
      </p:sp>
      <p:sp>
        <p:nvSpPr>
          <p:cNvPr id="60" name="D2 231"/>
          <p:cNvSpPr/>
          <p:nvPr/>
        </p:nvSpPr>
        <p:spPr>
          <a:xfrm>
            <a:off x="5999711" y="3059084"/>
            <a:ext cx="243147" cy="324196"/>
          </a:xfrm>
          <a:custGeom>
            <a:avLst/>
            <a:gdLst/>
            <a:ahLst/>
            <a:cxnLst/>
            <a:rect l="l" t="t" r="r" b="b"/>
            <a:pathLst>
              <a:path w="243147" h="324196">
                <a:moveTo>
                  <a:pt x="0" y="324196"/>
                </a:moveTo>
                <a:lnTo>
                  <a:pt x="243147" y="324196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1" name="D2 232"/>
          <p:cNvSpPr/>
          <p:nvPr/>
        </p:nvSpPr>
        <p:spPr>
          <a:xfrm>
            <a:off x="5999711" y="3383280"/>
            <a:ext cx="243147" cy="486295"/>
          </a:xfrm>
          <a:custGeom>
            <a:avLst/>
            <a:gdLst/>
            <a:ahLst/>
            <a:cxnLst/>
            <a:rect l="l" t="t" r="r" b="b"/>
            <a:pathLst>
              <a:path w="243147" h="486295">
                <a:moveTo>
                  <a:pt x="0" y="486295"/>
                </a:moveTo>
                <a:lnTo>
                  <a:pt x="243147" y="486295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2" name="D2 240"/>
          <p:cNvSpPr/>
          <p:nvPr/>
        </p:nvSpPr>
        <p:spPr>
          <a:xfrm>
            <a:off x="5270269" y="1600200"/>
            <a:ext cx="972589" cy="1134687"/>
          </a:xfrm>
          <a:custGeom>
            <a:avLst/>
            <a:gdLst/>
            <a:ahLst/>
            <a:cxnLst/>
            <a:rect l="l" t="t" r="r" b="b"/>
            <a:pathLst>
              <a:path w="972589" h="1134687">
                <a:moveTo>
                  <a:pt x="0" y="1134687"/>
                </a:moveTo>
                <a:lnTo>
                  <a:pt x="972589" y="1134687"/>
                </a:lnTo>
                <a:lnTo>
                  <a:pt x="972589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5573684" y="209439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240</a:t>
            </a:r>
            <a:endParaRPr lang="en-US" sz="700" dirty="0"/>
          </a:p>
        </p:txBody>
      </p:sp>
      <p:sp>
        <p:nvSpPr>
          <p:cNvPr id="64" name="D2 211"/>
          <p:cNvSpPr/>
          <p:nvPr/>
        </p:nvSpPr>
        <p:spPr>
          <a:xfrm>
            <a:off x="6242858" y="3059084"/>
            <a:ext cx="518714" cy="810491"/>
          </a:xfrm>
          <a:custGeom>
            <a:avLst/>
            <a:gdLst/>
            <a:ahLst/>
            <a:cxnLst/>
            <a:rect l="l" t="t" r="r" b="b"/>
            <a:pathLst>
              <a:path w="518714" h="810491">
                <a:moveTo>
                  <a:pt x="0" y="810491"/>
                </a:moveTo>
                <a:lnTo>
                  <a:pt x="518714" y="810491"/>
                </a:lnTo>
                <a:lnTo>
                  <a:pt x="518714" y="0"/>
                </a:lnTo>
                <a:lnTo>
                  <a:pt x="243147" y="0"/>
                </a:lnTo>
                <a:lnTo>
                  <a:pt x="243147" y="291777"/>
                </a:lnTo>
                <a:lnTo>
                  <a:pt x="0" y="291777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313932" y="335335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211</a:t>
            </a:r>
            <a:endParaRPr lang="en-US" sz="700" dirty="0"/>
          </a:p>
        </p:txBody>
      </p:sp>
      <p:sp>
        <p:nvSpPr>
          <p:cNvPr id="66" name="D2 261"/>
          <p:cNvSpPr/>
          <p:nvPr/>
        </p:nvSpPr>
        <p:spPr>
          <a:xfrm>
            <a:off x="6242858" y="3059084"/>
            <a:ext cx="243147" cy="291777"/>
          </a:xfrm>
          <a:custGeom>
            <a:avLst/>
            <a:gdLst/>
            <a:ahLst/>
            <a:cxnLst/>
            <a:rect l="l" t="t" r="r" b="b"/>
            <a:pathLst>
              <a:path w="243147" h="291777">
                <a:moveTo>
                  <a:pt x="0" y="291777"/>
                </a:moveTo>
                <a:lnTo>
                  <a:pt x="243147" y="291777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7" name="D2 212"/>
          <p:cNvSpPr/>
          <p:nvPr/>
        </p:nvSpPr>
        <p:spPr>
          <a:xfrm>
            <a:off x="6761572" y="3059084"/>
            <a:ext cx="518714" cy="810491"/>
          </a:xfrm>
          <a:custGeom>
            <a:avLst/>
            <a:gdLst/>
            <a:ahLst/>
            <a:cxnLst/>
            <a:rect l="l" t="t" r="r" b="b"/>
            <a:pathLst>
              <a:path w="518714" h="810491">
                <a:moveTo>
                  <a:pt x="0" y="810491"/>
                </a:moveTo>
                <a:lnTo>
                  <a:pt x="518714" y="810491"/>
                </a:lnTo>
                <a:lnTo>
                  <a:pt x="518714" y="0"/>
                </a:lnTo>
                <a:lnTo>
                  <a:pt x="243147" y="0"/>
                </a:lnTo>
                <a:lnTo>
                  <a:pt x="243147" y="291777"/>
                </a:lnTo>
                <a:lnTo>
                  <a:pt x="0" y="291777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6832646" y="335335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212</a:t>
            </a:r>
            <a:endParaRPr lang="en-US" sz="700" dirty="0"/>
          </a:p>
        </p:txBody>
      </p:sp>
      <p:sp>
        <p:nvSpPr>
          <p:cNvPr id="69" name="D2 262"/>
          <p:cNvSpPr/>
          <p:nvPr/>
        </p:nvSpPr>
        <p:spPr>
          <a:xfrm>
            <a:off x="6761572" y="3059084"/>
            <a:ext cx="243147" cy="291777"/>
          </a:xfrm>
          <a:custGeom>
            <a:avLst/>
            <a:gdLst/>
            <a:ahLst/>
            <a:cxnLst/>
            <a:rect l="l" t="t" r="r" b="b"/>
            <a:pathLst>
              <a:path w="243147" h="291777">
                <a:moveTo>
                  <a:pt x="0" y="291777"/>
                </a:moveTo>
                <a:lnTo>
                  <a:pt x="243147" y="291777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0" name="D2 213"/>
          <p:cNvSpPr/>
          <p:nvPr/>
        </p:nvSpPr>
        <p:spPr>
          <a:xfrm>
            <a:off x="7280287" y="3059084"/>
            <a:ext cx="583553" cy="810491"/>
          </a:xfrm>
          <a:custGeom>
            <a:avLst/>
            <a:gdLst/>
            <a:ahLst/>
            <a:cxnLst/>
            <a:rect l="l" t="t" r="r" b="b"/>
            <a:pathLst>
              <a:path w="583553" h="810491">
                <a:moveTo>
                  <a:pt x="0" y="810491"/>
                </a:moveTo>
                <a:lnTo>
                  <a:pt x="259357" y="810491"/>
                </a:lnTo>
                <a:lnTo>
                  <a:pt x="583553" y="486295"/>
                </a:lnTo>
                <a:lnTo>
                  <a:pt x="583553" y="0"/>
                </a:lnTo>
                <a:lnTo>
                  <a:pt x="243147" y="0"/>
                </a:lnTo>
                <a:lnTo>
                  <a:pt x="243147" y="291777"/>
                </a:lnTo>
                <a:lnTo>
                  <a:pt x="0" y="291777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7370658" y="3370336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213</a:t>
            </a:r>
            <a:endParaRPr lang="en-US" sz="700" dirty="0"/>
          </a:p>
        </p:txBody>
      </p:sp>
      <p:sp>
        <p:nvSpPr>
          <p:cNvPr id="72" name="D2 263"/>
          <p:cNvSpPr/>
          <p:nvPr/>
        </p:nvSpPr>
        <p:spPr>
          <a:xfrm>
            <a:off x="7280287" y="3059084"/>
            <a:ext cx="243147" cy="291777"/>
          </a:xfrm>
          <a:custGeom>
            <a:avLst/>
            <a:gdLst/>
            <a:ahLst/>
            <a:cxnLst/>
            <a:rect l="l" t="t" r="r" b="b"/>
            <a:pathLst>
              <a:path w="243147" h="291777">
                <a:moveTo>
                  <a:pt x="0" y="291777"/>
                </a:moveTo>
                <a:lnTo>
                  <a:pt x="243147" y="291777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3" name="D2 241"/>
          <p:cNvSpPr/>
          <p:nvPr/>
        </p:nvSpPr>
        <p:spPr>
          <a:xfrm>
            <a:off x="6242858" y="1600200"/>
            <a:ext cx="518714" cy="1134687"/>
          </a:xfrm>
          <a:custGeom>
            <a:avLst/>
            <a:gdLst/>
            <a:ahLst/>
            <a:cxnLst/>
            <a:rect l="l" t="t" r="r" b="b"/>
            <a:pathLst>
              <a:path w="518714" h="1134687">
                <a:moveTo>
                  <a:pt x="0" y="842911"/>
                </a:moveTo>
                <a:lnTo>
                  <a:pt x="243147" y="842911"/>
                </a:lnTo>
                <a:lnTo>
                  <a:pt x="243147" y="1134687"/>
                </a:lnTo>
                <a:lnTo>
                  <a:pt x="518714" y="1134687"/>
                </a:lnTo>
                <a:lnTo>
                  <a:pt x="518714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4" name="Text 72"/>
          <p:cNvSpPr txBox="1"/>
          <p:nvPr/>
        </p:nvSpPr>
        <p:spPr>
          <a:xfrm>
            <a:off x="6313932" y="218624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241</a:t>
            </a:r>
            <a:endParaRPr lang="en-US" sz="700" dirty="0"/>
          </a:p>
        </p:txBody>
      </p:sp>
      <p:sp>
        <p:nvSpPr>
          <p:cNvPr id="75" name="D2 291"/>
          <p:cNvSpPr/>
          <p:nvPr/>
        </p:nvSpPr>
        <p:spPr>
          <a:xfrm>
            <a:off x="6242858" y="2443111"/>
            <a:ext cx="243147" cy="291777"/>
          </a:xfrm>
          <a:custGeom>
            <a:avLst/>
            <a:gdLst/>
            <a:ahLst/>
            <a:cxnLst/>
            <a:rect l="l" t="t" r="r" b="b"/>
            <a:pathLst>
              <a:path w="243147" h="291777">
                <a:moveTo>
                  <a:pt x="0" y="291777"/>
                </a:moveTo>
                <a:lnTo>
                  <a:pt x="243147" y="291777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6" name="D2 242"/>
          <p:cNvSpPr/>
          <p:nvPr/>
        </p:nvSpPr>
        <p:spPr>
          <a:xfrm>
            <a:off x="6761572" y="1600200"/>
            <a:ext cx="518714" cy="1134687"/>
          </a:xfrm>
          <a:custGeom>
            <a:avLst/>
            <a:gdLst/>
            <a:ahLst/>
            <a:cxnLst/>
            <a:rect l="l" t="t" r="r" b="b"/>
            <a:pathLst>
              <a:path w="518714" h="1134687">
                <a:moveTo>
                  <a:pt x="0" y="842911"/>
                </a:moveTo>
                <a:lnTo>
                  <a:pt x="243147" y="842911"/>
                </a:lnTo>
                <a:lnTo>
                  <a:pt x="243147" y="1134687"/>
                </a:lnTo>
                <a:lnTo>
                  <a:pt x="518714" y="1134687"/>
                </a:lnTo>
                <a:lnTo>
                  <a:pt x="518714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6832646" y="218624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242</a:t>
            </a:r>
            <a:endParaRPr lang="en-US" sz="700" dirty="0"/>
          </a:p>
        </p:txBody>
      </p:sp>
      <p:sp>
        <p:nvSpPr>
          <p:cNvPr id="78" name="D2 292"/>
          <p:cNvSpPr/>
          <p:nvPr/>
        </p:nvSpPr>
        <p:spPr>
          <a:xfrm>
            <a:off x="6761572" y="2443111"/>
            <a:ext cx="243147" cy="291777"/>
          </a:xfrm>
          <a:custGeom>
            <a:avLst/>
            <a:gdLst/>
            <a:ahLst/>
            <a:cxnLst/>
            <a:rect l="l" t="t" r="r" b="b"/>
            <a:pathLst>
              <a:path w="243147" h="291777">
                <a:moveTo>
                  <a:pt x="0" y="291777"/>
                </a:moveTo>
                <a:lnTo>
                  <a:pt x="243147" y="291777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79" name="D2 243"/>
          <p:cNvSpPr/>
          <p:nvPr/>
        </p:nvSpPr>
        <p:spPr>
          <a:xfrm>
            <a:off x="7280287" y="1600200"/>
            <a:ext cx="583553" cy="1134687"/>
          </a:xfrm>
          <a:custGeom>
            <a:avLst/>
            <a:gdLst/>
            <a:ahLst/>
            <a:cxnLst/>
            <a:rect l="l" t="t" r="r" b="b"/>
            <a:pathLst>
              <a:path w="583553" h="1134687">
                <a:moveTo>
                  <a:pt x="0" y="842911"/>
                </a:moveTo>
                <a:lnTo>
                  <a:pt x="243147" y="842911"/>
                </a:lnTo>
                <a:lnTo>
                  <a:pt x="243147" y="1134687"/>
                </a:lnTo>
                <a:lnTo>
                  <a:pt x="583553" y="1134687"/>
                </a:lnTo>
                <a:lnTo>
                  <a:pt x="583553" y="324196"/>
                </a:lnTo>
                <a:lnTo>
                  <a:pt x="259357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0" name="Text 78"/>
          <p:cNvSpPr txBox="1"/>
          <p:nvPr/>
        </p:nvSpPr>
        <p:spPr>
          <a:xfrm>
            <a:off x="7370658" y="2138390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243</a:t>
            </a:r>
            <a:endParaRPr lang="en-US" sz="700" dirty="0"/>
          </a:p>
        </p:txBody>
      </p:sp>
      <p:sp>
        <p:nvSpPr>
          <p:cNvPr id="81" name="D2 293"/>
          <p:cNvSpPr/>
          <p:nvPr/>
        </p:nvSpPr>
        <p:spPr>
          <a:xfrm>
            <a:off x="7280287" y="2443111"/>
            <a:ext cx="243147" cy="291777"/>
          </a:xfrm>
          <a:custGeom>
            <a:avLst/>
            <a:gdLst/>
            <a:ahLst/>
            <a:cxnLst/>
            <a:rect l="l" t="t" r="r" b="b"/>
            <a:pathLst>
              <a:path w="243147" h="291777">
                <a:moveTo>
                  <a:pt x="0" y="291777"/>
                </a:moveTo>
                <a:lnTo>
                  <a:pt x="243147" y="291777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2" name="D2 outline"/>
          <p:cNvSpPr/>
          <p:nvPr/>
        </p:nvSpPr>
        <p:spPr>
          <a:xfrm>
            <a:off x="4297680" y="1600200"/>
            <a:ext cx="3566160" cy="2269375"/>
          </a:xfrm>
          <a:custGeom>
            <a:avLst/>
            <a:gdLst/>
            <a:ahLst/>
            <a:cxnLst/>
            <a:rect l="l" t="t" r="r" b="b"/>
            <a:pathLst>
              <a:path w="3566160" h="2269375">
                <a:moveTo>
                  <a:pt x="0" y="2269375"/>
                </a:moveTo>
                <a:lnTo>
                  <a:pt x="3241964" y="2269375"/>
                </a:lnTo>
                <a:lnTo>
                  <a:pt x="3566160" y="1945178"/>
                </a:lnTo>
                <a:lnTo>
                  <a:pt x="3566160" y="324196"/>
                </a:lnTo>
                <a:lnTo>
                  <a:pt x="3241964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1B2A3A"/>
            </a:solidFill>
            <a:prstDash val="solid"/>
          </a:ln>
        </p:spPr>
      </p:sp>
      <p:sp>
        <p:nvSpPr>
          <p:cNvPr id="83" name="Text 81"/>
          <p:cNvSpPr txBox="1"/>
          <p:nvPr/>
        </p:nvSpPr>
        <p:spPr>
          <a:xfrm>
            <a:off x="81381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BRIDGE DK · Z 5800 mm</a:t>
            </a:r>
            <a:endParaRPr lang="en-US" sz="1200" dirty="0"/>
          </a:p>
        </p:txBody>
      </p:sp>
      <p:sp>
        <p:nvSpPr>
          <p:cNvPr id="84" name="D3 301"/>
          <p:cNvSpPr/>
          <p:nvPr/>
        </p:nvSpPr>
        <p:spPr>
          <a:xfrm>
            <a:off x="8138160" y="3059084"/>
            <a:ext cx="567344" cy="810491"/>
          </a:xfrm>
          <a:custGeom>
            <a:avLst/>
            <a:gdLst/>
            <a:ahLst/>
            <a:cxnLst/>
            <a:rect l="l" t="t" r="r" b="b"/>
            <a:pathLst>
              <a:path w="567344" h="810491">
                <a:moveTo>
                  <a:pt x="0" y="810491"/>
                </a:moveTo>
                <a:lnTo>
                  <a:pt x="567344" y="810491"/>
                </a:lnTo>
                <a:lnTo>
                  <a:pt x="567344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8238952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301</a:t>
            </a:r>
            <a:endParaRPr lang="en-US" sz="700" dirty="0"/>
          </a:p>
        </p:txBody>
      </p:sp>
      <p:sp>
        <p:nvSpPr>
          <p:cNvPr id="86" name="D3 302"/>
          <p:cNvSpPr/>
          <p:nvPr/>
        </p:nvSpPr>
        <p:spPr>
          <a:xfrm>
            <a:off x="8138160" y="2734887"/>
            <a:ext cx="2107276" cy="324196"/>
          </a:xfrm>
          <a:custGeom>
            <a:avLst/>
            <a:gdLst/>
            <a:ahLst/>
            <a:cxnLst/>
            <a:rect l="l" t="t" r="r" b="b"/>
            <a:pathLst>
              <a:path w="2107276" h="324196">
                <a:moveTo>
                  <a:pt x="0" y="324196"/>
                </a:moveTo>
                <a:lnTo>
                  <a:pt x="2107276" y="324196"/>
                </a:lnTo>
                <a:lnTo>
                  <a:pt x="2107276" y="0"/>
                </a:lnTo>
                <a:lnTo>
                  <a:pt x="0" y="0"/>
                </a:lnTo>
                <a:close/>
              </a:path>
            </a:pathLst>
          </a:custGeom>
          <a:solidFill>
            <a:srgbClr val="CDEBEE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7" name="Text 85"/>
          <p:cNvSpPr txBox="1"/>
          <p:nvPr/>
        </p:nvSpPr>
        <p:spPr>
          <a:xfrm>
            <a:off x="9008918" y="2823833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302</a:t>
            </a:r>
            <a:endParaRPr lang="en-US" sz="700" dirty="0"/>
          </a:p>
        </p:txBody>
      </p:sp>
      <p:sp>
        <p:nvSpPr>
          <p:cNvPr id="88" name="D3 303"/>
          <p:cNvSpPr/>
          <p:nvPr/>
        </p:nvSpPr>
        <p:spPr>
          <a:xfrm>
            <a:off x="8705504" y="2248593"/>
            <a:ext cx="405245" cy="486295"/>
          </a:xfrm>
          <a:custGeom>
            <a:avLst/>
            <a:gdLst/>
            <a:ahLst/>
            <a:cxnLst/>
            <a:rect l="l" t="t" r="r" b="b"/>
            <a:pathLst>
              <a:path w="405245" h="486295">
                <a:moveTo>
                  <a:pt x="0" y="486295"/>
                </a:moveTo>
                <a:lnTo>
                  <a:pt x="405245" y="486295"/>
                </a:lnTo>
                <a:lnTo>
                  <a:pt x="405245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8725246" y="241858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303</a:t>
            </a:r>
            <a:endParaRPr lang="en-US" sz="700" dirty="0"/>
          </a:p>
        </p:txBody>
      </p:sp>
      <p:sp>
        <p:nvSpPr>
          <p:cNvPr id="90" name="D3 305"/>
          <p:cNvSpPr/>
          <p:nvPr/>
        </p:nvSpPr>
        <p:spPr>
          <a:xfrm>
            <a:off x="8138160" y="2410691"/>
            <a:ext cx="243147" cy="324196"/>
          </a:xfrm>
          <a:custGeom>
            <a:avLst/>
            <a:gdLst/>
            <a:ahLst/>
            <a:cxnLst/>
            <a:rect l="l" t="t" r="r" b="b"/>
            <a:pathLst>
              <a:path w="243147" h="324196">
                <a:moveTo>
                  <a:pt x="0" y="324196"/>
                </a:moveTo>
                <a:lnTo>
                  <a:pt x="243147" y="324196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1" name="D3 304"/>
          <p:cNvSpPr/>
          <p:nvPr/>
        </p:nvSpPr>
        <p:spPr>
          <a:xfrm>
            <a:off x="8381307" y="2491740"/>
            <a:ext cx="324196" cy="243147"/>
          </a:xfrm>
          <a:custGeom>
            <a:avLst/>
            <a:gdLst/>
            <a:ahLst/>
            <a:cxnLst/>
            <a:rect l="l" t="t" r="r" b="b"/>
            <a:pathLst>
              <a:path w="324196" h="243147">
                <a:moveTo>
                  <a:pt x="0" y="243147"/>
                </a:moveTo>
                <a:lnTo>
                  <a:pt x="324196" y="243147"/>
                </a:lnTo>
                <a:lnTo>
                  <a:pt x="32419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2" name="Text 90"/>
          <p:cNvSpPr txBox="1"/>
          <p:nvPr/>
        </p:nvSpPr>
        <p:spPr>
          <a:xfrm>
            <a:off x="8360525" y="2540162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304</a:t>
            </a:r>
            <a:endParaRPr lang="en-US" sz="700" dirty="0"/>
          </a:p>
        </p:txBody>
      </p:sp>
      <p:sp>
        <p:nvSpPr>
          <p:cNvPr id="93" name="D3 308"/>
          <p:cNvSpPr/>
          <p:nvPr/>
        </p:nvSpPr>
        <p:spPr>
          <a:xfrm>
            <a:off x="8138160" y="1600200"/>
            <a:ext cx="243147" cy="810491"/>
          </a:xfrm>
          <a:custGeom>
            <a:avLst/>
            <a:gdLst/>
            <a:ahLst/>
            <a:cxnLst/>
            <a:rect l="l" t="t" r="r" b="b"/>
            <a:pathLst>
              <a:path w="243147" h="810491">
                <a:moveTo>
                  <a:pt x="0" y="810491"/>
                </a:moveTo>
                <a:lnTo>
                  <a:pt x="243147" y="810491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4" name="D3 306"/>
          <p:cNvSpPr/>
          <p:nvPr/>
        </p:nvSpPr>
        <p:spPr>
          <a:xfrm>
            <a:off x="8381307" y="1600200"/>
            <a:ext cx="324196" cy="891540"/>
          </a:xfrm>
          <a:custGeom>
            <a:avLst/>
            <a:gdLst/>
            <a:ahLst/>
            <a:cxnLst/>
            <a:rect l="l" t="t" r="r" b="b"/>
            <a:pathLst>
              <a:path w="324196" h="891540">
                <a:moveTo>
                  <a:pt x="0" y="891540"/>
                </a:moveTo>
                <a:lnTo>
                  <a:pt x="324196" y="891540"/>
                </a:lnTo>
                <a:lnTo>
                  <a:pt x="324196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5" name="Text 93"/>
          <p:cNvSpPr txBox="1"/>
          <p:nvPr/>
        </p:nvSpPr>
        <p:spPr>
          <a:xfrm>
            <a:off x="8360525" y="1972818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306</a:t>
            </a:r>
            <a:endParaRPr lang="en-US" sz="700" dirty="0"/>
          </a:p>
        </p:txBody>
      </p:sp>
      <p:sp>
        <p:nvSpPr>
          <p:cNvPr id="96" name="D3 307"/>
          <p:cNvSpPr/>
          <p:nvPr/>
        </p:nvSpPr>
        <p:spPr>
          <a:xfrm>
            <a:off x="8705504" y="1600200"/>
            <a:ext cx="405245" cy="648393"/>
          </a:xfrm>
          <a:custGeom>
            <a:avLst/>
            <a:gdLst/>
            <a:ahLst/>
            <a:cxnLst/>
            <a:rect l="l" t="t" r="r" b="b"/>
            <a:pathLst>
              <a:path w="405245" h="648393">
                <a:moveTo>
                  <a:pt x="0" y="648393"/>
                </a:moveTo>
                <a:lnTo>
                  <a:pt x="405245" y="648393"/>
                </a:lnTo>
                <a:lnTo>
                  <a:pt x="405245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8725246" y="185124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307</a:t>
            </a:r>
            <a:endParaRPr lang="en-US" sz="700" dirty="0"/>
          </a:p>
        </p:txBody>
      </p:sp>
      <p:sp>
        <p:nvSpPr>
          <p:cNvPr id="98" name="D3 310"/>
          <p:cNvSpPr/>
          <p:nvPr/>
        </p:nvSpPr>
        <p:spPr>
          <a:xfrm>
            <a:off x="8705504" y="3059084"/>
            <a:ext cx="486295" cy="810491"/>
          </a:xfrm>
          <a:custGeom>
            <a:avLst/>
            <a:gdLst/>
            <a:ahLst/>
            <a:cxnLst/>
            <a:rect l="l" t="t" r="r" b="b"/>
            <a:pathLst>
              <a:path w="486295" h="810491">
                <a:moveTo>
                  <a:pt x="0" y="810491"/>
                </a:moveTo>
                <a:lnTo>
                  <a:pt x="486295" y="810491"/>
                </a:lnTo>
                <a:lnTo>
                  <a:pt x="486295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8765771" y="339117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310</a:t>
            </a:r>
            <a:endParaRPr lang="en-US" sz="700" dirty="0"/>
          </a:p>
        </p:txBody>
      </p:sp>
      <p:sp>
        <p:nvSpPr>
          <p:cNvPr id="100" name="D3 309"/>
          <p:cNvSpPr/>
          <p:nvPr/>
        </p:nvSpPr>
        <p:spPr>
          <a:xfrm>
            <a:off x="9110749" y="1600200"/>
            <a:ext cx="81049" cy="1134687"/>
          </a:xfrm>
          <a:custGeom>
            <a:avLst/>
            <a:gdLst/>
            <a:ahLst/>
            <a:cxnLst/>
            <a:rect l="l" t="t" r="r" b="b"/>
            <a:pathLst>
              <a:path w="81049" h="1134687">
                <a:moveTo>
                  <a:pt x="0" y="1134687"/>
                </a:moveTo>
                <a:lnTo>
                  <a:pt x="81049" y="1134687"/>
                </a:lnTo>
                <a:lnTo>
                  <a:pt x="81049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1" name="D3 311"/>
          <p:cNvSpPr/>
          <p:nvPr/>
        </p:nvSpPr>
        <p:spPr>
          <a:xfrm>
            <a:off x="9191798" y="3059084"/>
            <a:ext cx="1053638" cy="810491"/>
          </a:xfrm>
          <a:custGeom>
            <a:avLst/>
            <a:gdLst/>
            <a:ahLst/>
            <a:cxnLst/>
            <a:rect l="l" t="t" r="r" b="b"/>
            <a:pathLst>
              <a:path w="1053638" h="810491">
                <a:moveTo>
                  <a:pt x="0" y="810491"/>
                </a:moveTo>
                <a:lnTo>
                  <a:pt x="1053638" y="810491"/>
                </a:lnTo>
                <a:lnTo>
                  <a:pt x="1053638" y="0"/>
                </a:lnTo>
                <a:lnTo>
                  <a:pt x="243147" y="0"/>
                </a:lnTo>
                <a:lnTo>
                  <a:pt x="243147" y="291777"/>
                </a:lnTo>
                <a:lnTo>
                  <a:pt x="0" y="291777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2" name="Text 100"/>
          <p:cNvSpPr txBox="1"/>
          <p:nvPr/>
        </p:nvSpPr>
        <p:spPr>
          <a:xfrm>
            <a:off x="9441180" y="3353354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311</a:t>
            </a:r>
            <a:endParaRPr lang="en-US" sz="700" dirty="0"/>
          </a:p>
        </p:txBody>
      </p:sp>
      <p:sp>
        <p:nvSpPr>
          <p:cNvPr id="103" name="D3 361"/>
          <p:cNvSpPr/>
          <p:nvPr/>
        </p:nvSpPr>
        <p:spPr>
          <a:xfrm>
            <a:off x="9191798" y="3059084"/>
            <a:ext cx="243147" cy="291777"/>
          </a:xfrm>
          <a:custGeom>
            <a:avLst/>
            <a:gdLst/>
            <a:ahLst/>
            <a:cxnLst/>
            <a:rect l="l" t="t" r="r" b="b"/>
            <a:pathLst>
              <a:path w="243147" h="291777">
                <a:moveTo>
                  <a:pt x="0" y="291777"/>
                </a:moveTo>
                <a:lnTo>
                  <a:pt x="243147" y="291777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4" name="D3 321"/>
          <p:cNvSpPr/>
          <p:nvPr/>
        </p:nvSpPr>
        <p:spPr>
          <a:xfrm>
            <a:off x="9191798" y="1600200"/>
            <a:ext cx="1053638" cy="1134687"/>
          </a:xfrm>
          <a:custGeom>
            <a:avLst/>
            <a:gdLst/>
            <a:ahLst/>
            <a:cxnLst/>
            <a:rect l="l" t="t" r="r" b="b"/>
            <a:pathLst>
              <a:path w="1053638" h="1134687">
                <a:moveTo>
                  <a:pt x="0" y="842911"/>
                </a:moveTo>
                <a:lnTo>
                  <a:pt x="243147" y="842911"/>
                </a:lnTo>
                <a:lnTo>
                  <a:pt x="243147" y="1134687"/>
                </a:lnTo>
                <a:lnTo>
                  <a:pt x="1053638" y="1134687"/>
                </a:lnTo>
                <a:lnTo>
                  <a:pt x="1053638" y="0"/>
                </a:lnTo>
                <a:lnTo>
                  <a:pt x="0" y="0"/>
                </a:lnTo>
                <a:close/>
              </a:path>
            </a:pathLst>
          </a:custGeom>
          <a:solidFill>
            <a:srgbClr val="F4F7F9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9441180" y="2186247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321</a:t>
            </a:r>
            <a:endParaRPr lang="en-US" sz="700" dirty="0"/>
          </a:p>
        </p:txBody>
      </p:sp>
      <p:sp>
        <p:nvSpPr>
          <p:cNvPr id="106" name="D3 371"/>
          <p:cNvSpPr/>
          <p:nvPr/>
        </p:nvSpPr>
        <p:spPr>
          <a:xfrm>
            <a:off x="9191798" y="2443111"/>
            <a:ext cx="243147" cy="291777"/>
          </a:xfrm>
          <a:custGeom>
            <a:avLst/>
            <a:gdLst/>
            <a:ahLst/>
            <a:cxnLst/>
            <a:rect l="l" t="t" r="r" b="b"/>
            <a:pathLst>
              <a:path w="243147" h="291777">
                <a:moveTo>
                  <a:pt x="0" y="291777"/>
                </a:moveTo>
                <a:lnTo>
                  <a:pt x="243147" y="291777"/>
                </a:lnTo>
                <a:lnTo>
                  <a:pt x="243147" y="0"/>
                </a:lnTo>
                <a:lnTo>
                  <a:pt x="0" y="0"/>
                </a:lnTo>
                <a:close/>
              </a:path>
            </a:pathLst>
          </a:custGeom>
          <a:solidFill>
            <a:srgbClr val="DDE2E7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7" name="D3 330"/>
          <p:cNvSpPr/>
          <p:nvPr/>
        </p:nvSpPr>
        <p:spPr>
          <a:xfrm>
            <a:off x="10245436" y="1600200"/>
            <a:ext cx="972589" cy="2269375"/>
          </a:xfrm>
          <a:custGeom>
            <a:avLst/>
            <a:gdLst/>
            <a:ahLst/>
            <a:cxnLst/>
            <a:rect l="l" t="t" r="r" b="b"/>
            <a:pathLst>
              <a:path w="972589" h="2269375">
                <a:moveTo>
                  <a:pt x="0" y="2269375"/>
                </a:moveTo>
                <a:lnTo>
                  <a:pt x="648393" y="2269375"/>
                </a:lnTo>
                <a:lnTo>
                  <a:pt x="972589" y="1945178"/>
                </a:lnTo>
                <a:lnTo>
                  <a:pt x="972589" y="324196"/>
                </a:lnTo>
                <a:lnTo>
                  <a:pt x="648393" y="0"/>
                </a:lnTo>
                <a:lnTo>
                  <a:pt x="0" y="0"/>
                </a:lnTo>
                <a:close/>
              </a:path>
            </a:pathLst>
          </a:custGeom>
          <a:solidFill>
            <a:srgbClr val="FCE9D2"/>
          </a:solidFill>
          <a:ln w="6350">
            <a:solidFill>
              <a:srgbClr val="AAB6C1"/>
            </a:solidFill>
            <a:prstDash val="solid"/>
          </a:ln>
        </p:spPr>
      </p:sp>
      <p:sp>
        <p:nvSpPr>
          <p:cNvPr id="108" name="Text 106"/>
          <p:cNvSpPr txBox="1"/>
          <p:nvPr/>
        </p:nvSpPr>
        <p:spPr>
          <a:xfrm>
            <a:off x="10602884" y="2661735"/>
            <a:ext cx="365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330</a:t>
            </a:r>
            <a:endParaRPr lang="en-US" sz="700" dirty="0"/>
          </a:p>
        </p:txBody>
      </p:sp>
      <p:sp>
        <p:nvSpPr>
          <p:cNvPr id="109" name="D3 outline"/>
          <p:cNvSpPr/>
          <p:nvPr/>
        </p:nvSpPr>
        <p:spPr>
          <a:xfrm>
            <a:off x="8138160" y="1600200"/>
            <a:ext cx="3079865" cy="2269375"/>
          </a:xfrm>
          <a:custGeom>
            <a:avLst/>
            <a:gdLst/>
            <a:ahLst/>
            <a:cxnLst/>
            <a:rect l="l" t="t" r="r" b="b"/>
            <a:pathLst>
              <a:path w="3079865" h="2269375">
                <a:moveTo>
                  <a:pt x="0" y="2269375"/>
                </a:moveTo>
                <a:lnTo>
                  <a:pt x="2755669" y="2269375"/>
                </a:lnTo>
                <a:lnTo>
                  <a:pt x="3079865" y="1945178"/>
                </a:lnTo>
                <a:lnTo>
                  <a:pt x="3079865" y="324196"/>
                </a:lnTo>
                <a:lnTo>
                  <a:pt x="2755669" y="0"/>
                </a:lnTo>
                <a:lnTo>
                  <a:pt x="0" y="0"/>
                </a:lnTo>
                <a:close/>
              </a:path>
            </a:pathLst>
          </a:custGeom>
          <a:ln w="22225">
            <a:solidFill>
              <a:srgbClr val="1B2A3A"/>
            </a:solidFill>
            <a:prstDash val="solid"/>
          </a:ln>
        </p:spPr>
      </p:sp>
      <p:sp>
        <p:nvSpPr>
          <p:cNvPr id="110" name="Text 108"/>
          <p:cNvSpPr txBox="1"/>
          <p:nvPr/>
        </p:nvSpPr>
        <p:spPr>
          <a:xfrm>
            <a:off x="457200" y="3961015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외곽선 (아웃라인)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모따기 선수 · 3층이 3 m 짧은 계단형. 선수 쪽 실은 선체선에 맞춰 잘림.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4297680" y="3961015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내부 (인라인)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한쪽으로 치우친 복도. 조리실 좌현 · 의무실 우현.</a:t>
            </a:r>
            <a:endParaRPr lang="en-US" sz="1300" dirty="0"/>
          </a:p>
        </p:txBody>
      </p:sp>
      <p:sp>
        <p:nvSpPr>
          <p:cNvPr id="112" name="Text 110"/>
          <p:cNvSpPr txBox="1"/>
          <p:nvPr/>
        </p:nvSpPr>
        <p:spPr>
          <a:xfrm>
            <a:off x="8138160" y="3961015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색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청록 복도 · 주황 조리실 · 연주황 조타실 · 밝은 회색 급기 실 · 회색 급기 없는 실. 숫자는 실 번호.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도면을 BOX로 — 3개 Deck</a:t>
            </a:r>
            <a:endParaRPr lang="en-US" sz="2800" dirty="0"/>
          </a:p>
        </p:txBody>
      </p:sp>
      <p:pic>
        <p:nvPicPr>
          <p:cNvPr id="3" name="Image 0" descr="① 도면을 BOX로 — 3개 Deck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735635" y="1522390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89915" y="1476670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27659" y="1714414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27659" y="171441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DXF 3장(1층 R12 한글)을 BOX로 열어 Deck 3개, 실 59개를 번호·이름까지 읽음. 빠진 실 0개.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689604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991356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34156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34156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9659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도면: 벽은 LINE, 실 번호·이름은 TEXT. 선수 쪽 실은 선체선(외곽선)에 맞춰 잘려 있음.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508138" y="2002765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809890" y="2304517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7352690" y="1847317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52690" y="18473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8163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79806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 목록에 이름·Z·높이를 입력하고, 외곽선 18변을 하부·상부 외곽선(OL)으로 지정.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격실 입력 — 설계자가 넣는 값</a:t>
            </a:r>
            <a:endParaRPr lang="en-US" sz="2800" dirty="0"/>
          </a:p>
        </p:txBody>
      </p:sp>
      <p:pic>
        <p:nvPicPr>
          <p:cNvPr id="3" name="Image 0" descr="② 격실 입력 — 설계자가 넣는 값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666598" y="1195727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8350" y="1150007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1150" y="1387751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1150" y="138775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격실 입력 표(BOX CAL)에 767칸을 붙여넣음(엑셀 붙여넣기와 같은 경로).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604461" y="151948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06213" y="182123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49013" y="136403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49013" y="13640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9659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계통: SUP(급기)·EXH(배기)·RET(환기). 이것으로 Grid가 계통을 만듦.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151948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93592" y="182123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36392" y="136403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36392" y="13640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8163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798064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온습도: 급기 있는 실 25 ℃/55 %, 급기 없는 실은 ISO 7547 표 1 차이.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712610" y="151948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14362" y="182123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557162" y="136403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57162" y="136403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686800" y="3666744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0" y="36667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3648456"/>
            <a:ext cx="2651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인원·최소 신기·장비 발열·환기 횟수. ISO 구분은 비워 둠 → BOX가 실 이름으로 정함(ENGINE 3, ALLEY_SOUND 3, NON_AC 12, WHEELHOUSE 1).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부하 — BOX CAL 격실 부하</a:t>
            </a:r>
            <a:endParaRPr lang="en-US" sz="2800" dirty="0"/>
          </a:p>
        </p:txBody>
      </p:sp>
      <p:pic>
        <p:nvPicPr>
          <p:cNvPr id="3" name="Image 0" descr="② 부하 — BOX CAL 격실 부하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666598" y="1432893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68350" y="138717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1150" y="1624917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11150" y="16249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실 부하 계산 완료(미완료 0실). 이 값으로 설계 데이터 59실을 만듦.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1947672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10개 · 급기 합계 14,520 CMH · 여러 Deck 계통: AHU-1, EF-SAN, RA-1.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풍량 — 여름 풍량 하나 (F-1)</a:t>
            </a:r>
            <a:endParaRPr lang="en-US" sz="2800" dirty="0"/>
          </a:p>
        </p:txBody>
      </p:sp>
      <p:pic>
        <p:nvPicPr>
          <p:cNvPr id="3" name="Image 0" descr="③ 풍량 — 여름 풍량 하나 (F-1)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1064362" y="1500016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366114" y="1454296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908914" y="1692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08914" y="16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풍량 규칙: 급기 ΔT 10 K, 가압 5 %, 최소 신기 25 %. 풍량 = 여름 냉방 현열 또는 최소 신기 중 큰 값.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 flipH="1">
            <a:off x="3530498" y="1500016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832250" y="1454296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75050" y="1692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375050" y="16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21945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217627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선택: 급기·배기·환기. 공조 구역 AHU-1 SA 11550 OA 4430 적합 / SF-GAL SA 2970 OA 2970 적합.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848710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50462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693262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693262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32735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32735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32552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평면: 실마다 급기 풍량(CMH), 화장실로 가는 화살표는 전달 공기.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7269480" y="2002765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571232" y="2304517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114032" y="1847317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114032" y="184731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686800" y="3895344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0" y="389534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387705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 요약과 계통 카드. 난방으로 풍량을 정한 실 0개 — 겨울은 난방 용량으로.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배기팬 위치 지정</a:t>
            </a:r>
            <a:endParaRPr lang="en-US" sz="2800" dirty="0"/>
          </a:p>
        </p:txBody>
      </p:sp>
      <p:pic>
        <p:nvPicPr>
          <p:cNvPr id="3" name="Image 0" descr="③ 배기팬 위치 지정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 flipH="1">
            <a:off x="4644238" y="1500016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45990" y="1454296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488790" y="1692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488790" y="1692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"위치 지정"을 누르고 평면에서 실을 클릭.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87368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7373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719072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의무실 배기(EF-HOS)는 그 Deck에 팬룸이 없어 린넨창고에 지정 — "assumed:corridor-end:202" → "user".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098548" y="5157530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400300" y="5459282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943100" y="5002082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943100" y="500208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8163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8163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7980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EF-HOS 팬 위치: 232 린넨창고 (CREW DK)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모든 계통 AUTO — PHG D 덕트망</a:t>
            </a:r>
            <a:endParaRPr lang="en-US" sz="2800" dirty="0"/>
          </a:p>
        </p:txBody>
      </p:sp>
      <p:pic>
        <p:nvPicPr>
          <p:cNvPr id="3" name="Image 0" descr="④ 모든 계통 AUTO — PHG D 덕트망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87368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0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0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Deck·계통 16/16 완료, 254초. 공조기·팬에서 시작해 트렁크의 수직 덕트로 각 Deck에 연결.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269480" y="2763488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7571232" y="3065240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14032" y="2608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114032" y="2608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9659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9659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9476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 카드: 덕트 수·길이, Deck 최대 손실, 상태.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087368" y="4911414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89120" y="5213166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931920" y="4755966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931920" y="475596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58775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587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56946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안 된 RU 0 · 선체 밖 덕트 0 m · 금지 영역 완화 0계획.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검토 — Deck·계통 덕트망</a:t>
            </a:r>
            <a:endParaRPr lang="en-US" sz="2800" dirty="0"/>
          </a:p>
        </p:txBody>
      </p:sp>
      <p:pic>
        <p:nvPicPr>
          <p:cNvPr id="3" name="Image 0" descr="⑤ 검토 — Deck·계통 덕트망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96312" y="1488157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98064" y="1789909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340864" y="1332709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40864" y="1332709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검토 결과: 통과 12 · 확인 4 · 실패 0.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087368" y="2763488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89120" y="3065240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931920" y="2608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931920" y="2608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7373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7190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Deck·계통마다 RU·덕트·길이·최대 손실과 AUTO 상태.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검토 — 계통·수직 덕트</a:t>
            </a:r>
            <a:endParaRPr lang="en-US" sz="2800" dirty="0"/>
          </a:p>
        </p:txBody>
      </p:sp>
      <p:pic>
        <p:nvPicPr>
          <p:cNvPr id="3" name="Image 0" descr="⑤ 검토 — 계통·수직 덕트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87368" y="2539746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0" y="2841498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0" y="2384298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38429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계통별 팬 풍량, 덕트 외부 정압(ESP), 팬 정압과 Deck 사이 수직 덕트(크기·손실).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계통도</a:t>
            </a:r>
            <a:endParaRPr lang="en-US" sz="2800" dirty="0"/>
          </a:p>
        </p:txBody>
      </p:sp>
      <p:pic>
        <p:nvPicPr>
          <p:cNvPr id="3" name="Image 0" descr="⑤ 계통도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87368" y="2763488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0" y="3065240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0" y="2608040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6080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계통마다 공조기·팬 → 수직 덕트 → 각 Deck 덕트망. 도면 없이 계통 구성을 한눈에.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방화 (SOLAS II-2)</a:t>
            </a:r>
            <a:endParaRPr lang="en-US" sz="2800" dirty="0"/>
          </a:p>
        </p:txBody>
      </p:sp>
      <p:pic>
        <p:nvPicPr>
          <p:cNvPr id="3" name="Image 0" descr="⑤ 방화 (SOLAS II-2)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496312" y="182377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798064" y="212552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340864" y="166832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340864" y="166832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방화 경계 307개(등급별), 최하층 아래 = 기관실 A류.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91840" y="2360752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593592" y="2662504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136392" y="2205304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136392" y="22053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8686800" y="1737360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686800" y="17373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9098280" y="17190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 분류: 미분류 0개, 확인 항목.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3291840" y="3434715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593592" y="3736467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136392" y="3279267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36392" y="327926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8686800" y="2267712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8686800" y="22677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9098280" y="2249424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제한 구역 통과·SOLAS 점검표.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1700784" y="500091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002536" y="530266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545336" y="484546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545336" y="484546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8686800" y="2798064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8680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100" dirty="0"/>
          </a:p>
        </p:txBody>
      </p:sp>
      <p:sp>
        <p:nvSpPr>
          <p:cNvPr id="32" name="Text 29"/>
          <p:cNvSpPr txBox="1"/>
          <p:nvPr/>
        </p:nvSpPr>
        <p:spPr>
          <a:xfrm>
            <a:off x="9098280" y="2779776"/>
            <a:ext cx="2651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덕트 관통 132곳, 자동 방화댐퍼 10개(A급 경계 · 0.075 m² 초과, II-2/9.7.3).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방화 등급도</a:t>
            </a:r>
            <a:endParaRPr lang="en-US" sz="2800" dirty="0"/>
          </a:p>
        </p:txBody>
      </p:sp>
      <p:pic>
        <p:nvPicPr>
          <p:cNvPr id="3" name="Image 0" descr="⑤ 방화 등급도 화면 캡처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7955280" cy="44748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57200" y="1097280"/>
            <a:ext cx="7955280" cy="4474845"/>
          </a:xfrm>
          <a:prstGeom prst="rect">
            <a:avLst/>
          </a:prstGeom>
          <a:ln w="9525">
            <a:solidFill>
              <a:srgbClr val="C9D3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087368" y="2987231"/>
            <a:ext cx="347472" cy="347472"/>
          </a:xfrm>
          <a:prstGeom prst="line">
            <a:avLst/>
          </a:prstGeom>
          <a:noFill/>
          <a:ln w="19050">
            <a:solidFill>
              <a:srgbClr val="0F8B8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389120" y="3288983"/>
            <a:ext cx="91440" cy="91440"/>
          </a:xfrm>
          <a:prstGeom prst="ellipse">
            <a:avLst/>
          </a:prstGeom>
          <a:solidFill>
            <a:srgbClr val="0F8B8D"/>
          </a:solidFill>
          <a:ln w="9525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931920" y="2831783"/>
            <a:ext cx="310896" cy="310896"/>
          </a:xfrm>
          <a:prstGeom prst="ellipse">
            <a:avLst/>
          </a:prstGeom>
          <a:solidFill>
            <a:srgbClr val="0F8B8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931920" y="283178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8686800" y="1115568"/>
            <a:ext cx="274320" cy="274320"/>
          </a:xfrm>
          <a:prstGeom prst="ellipse">
            <a:avLst/>
          </a:prstGeom>
          <a:solidFill>
            <a:srgbClr val="0F8B8D"/>
          </a:solidFill>
          <a:ln w="12700">
            <a:solidFill>
              <a:srgbClr val="0F8B8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0" y="111556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109728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실마다 SOLAS 범주, 벽·갑판 등급(A-60·A-0·B-0 …), 방화댐퍼(FD)·슬리브(SL) 위치. DXF로도 출력.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5645277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화면: HVAC Grid 실행 중 캡처 — 번호는 오른쪽 설명과 짝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계통별 압력 — 덕트 외부 정압과 팬 정압</a:t>
            </a:r>
            <a:endParaRPr lang="en-US" sz="28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457200" y="1143000"/>
          <a:ext cx="7680960" cy="5029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412480" y="12801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ESP가 큰 계통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AHU-1: 305.3 Pa (11,550 CMH)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RA-1: 299.8 Pa (7,120 CMH)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EF-PAN: 148 Pa (770 CMH)</a:t>
            </a:r>
            <a:endParaRPr lang="en-US" sz="1400" dirty="0"/>
          </a:p>
        </p:txBody>
      </p:sp>
      <p:sp>
        <p:nvSpPr>
          <p:cNvPr id="5" name="Text 2"/>
          <p:cNvSpPr txBox="1"/>
          <p:nvPr/>
        </p:nvSpPr>
        <p:spPr>
          <a:xfrm>
            <a:off x="8412480" y="3931920"/>
            <a:ext cx="33832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ESP = Deck 덕트망 최대 손실 + 방화댐퍼 여유 + 수직 덕트. 팬 정압 = ESP + 공조기 내부·루버 손실(추정).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A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사항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291840" cy="1737360"/>
          </a:xfrm>
          <a:prstGeom prst="roundRect">
            <a:avLst>
              <a:gd name="adj" fmla="val 5263"/>
            </a:avLst>
          </a:prstGeom>
          <a:solidFill>
            <a:srgbClr val="E6F4EC"/>
          </a:solidFill>
          <a:ln w="12700">
            <a:solidFill>
              <a:srgbClr val="E6F4E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132588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E8B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194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A4B5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이상 없음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108960"/>
            <a:ext cx="3291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7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실패한 단계·페이지 오류·Deck id 노출이 없음. 아래는 규칙이 시험선의 배치·입력에서 잡은 설계 경고(정상 동작).</a:t>
            </a:r>
            <a:endParaRPr lang="en-US" sz="1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023360" y="1188720"/>
          <a:ext cx="77266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85800"/>
                <a:gridCol w="502920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종류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건수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 공기 출처 없음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308 청소도구실: 배기 170 CMH를 받을 급기 실이 이웃에 없음 — 외기 흡입구 또는 급기 필요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문 통기구 &gt; 0.05 m²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114 조리실: 복도에서 전달 공기 810 CMH → 문 통기구 0.113 m² (&gt; 0.05 m², II-2/9.4.2) — 급기 추가 또는 덕트로 보충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 신기 부족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240 취미실: 실 신기 200 CMH(급기 520 × 구역 신기 38.4 %) &lt; 최소 신기 259 CMH — 급기 690 CMH 이상 또는 AHU-1 신기 비율 50 …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전달 공기가 A급 경계 통과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3A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114 조리실: 102 복도에서 전달 공기 810 CMH가 A-0 경계를 지남 — 방화댐퍼 붙은 전달 덕트 또는 출처 변경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D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44652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F6B76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이상 없음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560320"/>
            <a:ext cx="105156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DE5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이상 없음 — 다음 정기 실행에서 다른 평면도로 다시 확인.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DE5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 확인 사항은 시험선 배치·입력에 따른 경고로, 프로그램 결함이 아님.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DDE5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내일: 20일 계획의 다음 외곽선·복도 형상.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파일: out/n3/20261024/ — summary.md · n3.report.html · n3.xlsx · n3.dxf · n3.project.json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N3 일일 시험 20261024</dc:title>
  <dc:subject>PptxGenJS Presentation</dc:subject>
  <dc:creator>HVAC Grid</dc:creator>
  <cp:lastModifiedBy>HVAC Grid</cp:lastModifiedBy>
  <cp:revision>1</cp:revision>
  <dcterms:created xsi:type="dcterms:W3CDTF">2026-10-24T00:10:39Z</dcterms:created>
  <dcterms:modified xsi:type="dcterms:W3CDTF">2026-10-24T00:10:39Z</dcterms:modified>
</cp:coreProperties>
</file>